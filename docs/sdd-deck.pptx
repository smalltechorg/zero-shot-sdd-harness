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4000">
                <a:solidFill>
                  <a:srgbClr val="FFFFFF"/>
                </a:solidFill>
              </a:rPr>
              <a:t>Spec-Driven Development &amp; Agentic Harnesses</a:t>
            </a:r>
          </a:p>
          <a:p>
            <a:pPr>
              <a:spcAft>
                <a:spcPts val="600"/>
              </a:spcAft>
            </a:pPr>
            <a:r>
              <a:rPr b="0" sz="2200">
                <a:solidFill>
                  <a:srgbClr val="E9D5FF"/>
                </a:solidFill>
              </a:rPr>
              <a:t>our choices vs the field vs academic rigor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Why this deck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Educate before we decide.</a:t>
            </a:r>
            <a:r>
              <a:rPr b="0" sz="1500">
                <a:solidFill>
                  <a:srgbClr val="0F172A"/>
                </a:solidFill>
              </a:rPr>
              <a:t> We are about to make architectural commitments (spec format, who-wins-on-conflict, the build loop). Those are expensive to reverse. This deck front-loads the field so the decisions are informed, not default.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359152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The field is young and unsettled.</a:t>
            </a:r>
            <a:r>
              <a:rPr b="0" sz="1500">
                <a:solidFill>
                  <a:srgbClr val="0F172A"/>
                </a:solidFill>
              </a:rPr>
              <a:t> Four serious tools (OpenSpec, Spec Kit, Kiro, Tessl) disagree on fundamentals — even on which artifact is the source of truth. There is no consensus to copy.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944368"/>
            <a:ext cx="10820095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Our repo already took a contrarian position.</a:t>
            </a:r>
            <a:r>
              <a:rPr b="0" sz="1500">
                <a:solidFill>
                  <a:srgbClr val="0F172A"/>
                </a:solidFill>
              </a:rPr>
              <a:t> </a:t>
            </a:r>
            <a:r>
              <a:rPr sz="1500">
                <a:solidFill>
                  <a:srgbClr val="BE123C"/>
                </a:solidFill>
                <a:latin typeface="Consolas"/>
              </a:rPr>
              <a:t>NORTH-STAR.md</a:t>
            </a:r>
            <a:r>
              <a:rPr b="0" sz="1500">
                <a:solidFill>
                  <a:srgbClr val="0F172A"/>
                </a:solidFill>
              </a:rPr>
              <a:t> line 13: "CODE — the source of truth." Most of the field says the spec is truth. We should understand that fork deliberately, not by accident.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03904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Goal of the opening:</a:t>
            </a:r>
            <a:r>
              <a:rPr b="0" sz="1500">
                <a:solidFill>
                  <a:srgbClr val="0F172A"/>
                </a:solidFill>
              </a:rPr>
              <a:t> shared vocabulary + a map. By the end you can place any tool — and our harness — on one diagram.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62272"/>
            <a:ext cx="1077437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64748B"/>
                </a:solidFill>
              </a:rPr>
              <a:t>No conclusions yet. Just the lay of the land.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462272"/>
            <a:ext cx="45720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The core problem: intent that won't stay 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AI writes code </a:t>
            </a:r>
            <a:r>
              <a:rPr b="1" sz="1500">
                <a:solidFill>
                  <a:srgbClr val="0F172A"/>
                </a:solidFill>
              </a:rPr>
              <a:t>fast</a:t>
            </a:r>
            <a:r>
              <a:rPr b="0" sz="1500">
                <a:solidFill>
                  <a:srgbClr val="0F172A"/>
                </a:solidFill>
              </a:rPr>
              <a:t>. The bottleneck moved from typing code to keeping code and intent aligned as both change.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847088"/>
            <a:ext cx="10820095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Drift is the default.</a:t>
            </a:r>
            <a:r>
              <a:rPr b="0" sz="1500">
                <a:solidFill>
                  <a:srgbClr val="0F172A"/>
                </a:solidFill>
              </a:rPr>
              <a:t> You spec a behaviour, the agent implements it, then three changes later the code does something the spec never mentions — or the spec promises something the code dropped. Now neither is trustworthy.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70662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Two failure modes, equally bad: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39" y="3017520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– </a:t>
            </a:r>
            <a:r>
              <a:rPr b="0" sz="1500">
                <a:solidFill>
                  <a:srgbClr val="0F172A"/>
                </a:solidFill>
              </a:rPr>
              <a:t>Stale spec — doc says X, code does Y. The "source of truth" lies.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39" y="3328415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– </a:t>
            </a:r>
            <a:r>
              <a:rPr b="0" sz="1500">
                <a:solidFill>
                  <a:srgbClr val="0F172A"/>
                </a:solidFill>
              </a:rPr>
              <a:t>Phantom spec — spec describes a feature that was never built (or silently stubbed).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3639311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The real question is durability:</a:t>
            </a:r>
            <a:r>
              <a:rPr b="0" sz="1500">
                <a:solidFill>
                  <a:srgbClr val="0F172A"/>
                </a:solidFill>
              </a:rPr>
              <a:t> when intent and implementation conflict, </a:t>
            </a:r>
            <a:r>
              <a:rPr b="1" sz="1500">
                <a:solidFill>
                  <a:srgbClr val="0F172A"/>
                </a:solidFill>
              </a:rPr>
              <a:t>which one wins, and how is that enforced — mechanically, not by good intentions?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79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Source: </a:t>
            </a:r>
            <a:r>
              <a:rPr sz="1500">
                <a:solidFill>
                  <a:srgbClr val="BE123C"/>
                </a:solidFill>
                <a:latin typeface="Consolas"/>
              </a:rPr>
              <a:t>NORTH-STAR.md</a:t>
            </a:r>
            <a:r>
              <a:rPr b="0" sz="1500">
                <a:solidFill>
                  <a:srgbClr val="0F172A"/>
                </a:solidFill>
              </a:rPr>
              <a:t> ("Anti-goals"): "Docs that cite files which don't exist.")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Key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11535" cy="2679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8"/>
              </a:tblGrid>
              <a:tr h="334898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Term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Working definition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</a:tr>
              <a:tr h="334898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Spec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A human-readable statement of what the system should do (behaviour, interfaces, acceptance). Markdown, usually.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4898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Code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The executable, tested artifact. The what made real.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4898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Harness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The tooling around the agent that drives the build loop and enforces the rules — not the app it produces.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4898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SDD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Spec-Driven Development: making a spec the explicit unit of work the agent operates on.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4898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Drift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Spec and code disagree. The condition SDD exists to fight.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4898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Reconciliation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The mechanism that re-aligns spec ↔ code, and decides who wins on conflict.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4905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EARS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Easy Approach to Requirements Syntax — constrained templates ("WHEN \&lt;trigger\&gt;, the system SHALL \&lt;response\&gt;") for unambiguous requirements. Used by AWS Kiro's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requirements.md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.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A map of the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Two independent axes. Every tool — and ours — is a point in this grid.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470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Axis 1 — Direction of truth (who wins on conflict):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322576"/>
          <a:ext cx="10911535" cy="1362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4061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Position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Meaning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Who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</a:tr>
              <a:tr h="34061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Spec-first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Spec is canonical; code is generated/regenerated from it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Tessl, Spec Kit, Kiro, OpenSpec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4061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Code-first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Code is canonical; spec is projected from the code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Us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(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NORTH-STAR.md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)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4061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Reconciliation-based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Neither is fixed; a sync step merges/audits both ways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OpenSpec archive, Spec Kit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/analyze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822191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Axis 2 — What plays the role of "spec":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297679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doc-as-spec</a:t>
            </a:r>
            <a:r>
              <a:rPr b="0" sz="1500">
                <a:solidFill>
                  <a:srgbClr val="0F172A"/>
                </a:solidFill>
              </a:rPr>
              <a:t> — prose/Markdown requirements (Spec Kit, Kiro, OpenSpec, our </a:t>
            </a:r>
            <a:r>
              <a:rPr sz="1500">
                <a:solidFill>
                  <a:srgbClr val="BE123C"/>
                </a:solidFill>
                <a:latin typeface="Consolas"/>
              </a:rPr>
              <a:t>spec/</a:t>
            </a:r>
            <a:r>
              <a:rPr b="0" sz="1500">
                <a:solidFill>
                  <a:srgbClr val="0F172A"/>
                </a:solidFill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4608575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test-as-spec</a:t>
            </a:r>
            <a:r>
              <a:rPr b="0" sz="1500">
                <a:solidFill>
                  <a:srgbClr val="0F172A"/>
                </a:solidFill>
              </a:rPr>
              <a:t> — executable acceptance checks are the binding contract (our </a:t>
            </a:r>
            <a:r>
              <a:rPr sz="1500">
                <a:solidFill>
                  <a:srgbClr val="BE123C"/>
                </a:solidFill>
                <a:latin typeface="Consolas"/>
              </a:rPr>
              <a:t>proof-gate</a:t>
            </a:r>
            <a:r>
              <a:rPr b="0" sz="1500">
                <a:solidFill>
                  <a:srgbClr val="0F172A"/>
                </a:solidFill>
              </a:rPr>
              <a:t>; classic TDD)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4919471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types-as-spec</a:t>
            </a:r>
            <a:r>
              <a:rPr b="0" sz="1500">
                <a:solidFill>
                  <a:srgbClr val="0F172A"/>
                </a:solidFill>
              </a:rPr>
              <a:t> — schemas/types/contracts constrain the code (dependently-typed &amp; contract-driven lineage)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577839"/>
            <a:ext cx="1077437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64748B"/>
                </a:solidFill>
              </a:rPr>
              <a:t>The interesting tools mix these. Our harness is </a:t>
            </a:r>
            <a:r>
              <a:rPr b="1" sz="1500">
                <a:solidFill>
                  <a:srgbClr val="64748B"/>
                </a:solidFill>
              </a:rPr>
              <a:t>code-first + doc-as-spec for reading + test-as-spec for proof.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577839"/>
            <a:ext cx="45720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What we'll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37160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The problem &amp; the field</a:t>
            </a:r>
            <a:r>
              <a:rPr b="0" sz="1500">
                <a:solidFill>
                  <a:srgbClr val="0F172A"/>
                </a:solidFill>
              </a:rPr>
              <a:t> (you are here) — drift, vocabulary, the truth-direction axis.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682495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The four competitors, deeply</a:t>
            </a:r>
            <a:r>
              <a:rPr b="0" sz="1500">
                <a:solidFill>
                  <a:srgbClr val="0F172A"/>
                </a:solidFill>
              </a:rPr>
              <a:t> — OpenSpec's delta-spec tree · Spec Kit's Constitution→Implement pipeline · Kiro's three-file EARS gates · Tessl's spec-as-projection.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26771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Academic rigor</a:t>
            </a:r>
            <a:r>
              <a:rPr b="0" sz="1500">
                <a:solidFill>
                  <a:srgbClr val="0F172A"/>
                </a:solidFill>
              </a:rPr>
              <a:t> — formal specs, refinement, EARS, what "verified" actually means.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57860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Our six design bricks: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39" y="2889503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– </a:t>
            </a:r>
            <a:r>
              <a:rPr b="0" sz="1500">
                <a:solidFill>
                  <a:srgbClr val="0F172A"/>
                </a:solidFill>
              </a:rPr>
              <a:t>repo skeleton (</a:t>
            </a:r>
            <a:r>
              <a:rPr sz="1500">
                <a:solidFill>
                  <a:srgbClr val="BE123C"/>
                </a:solidFill>
                <a:latin typeface="Consolas"/>
              </a:rPr>
              <a:t>harness</a:t>
            </a:r>
            <a:r>
              <a:rPr b="0" sz="1500">
                <a:solidFill>
                  <a:srgbClr val="0F172A"/>
                </a:solidFill>
              </a:rPr>
              <a:t> / </a:t>
            </a:r>
            <a:r>
              <a:rPr sz="1500">
                <a:solidFill>
                  <a:srgbClr val="BE123C"/>
                </a:solidFill>
                <a:latin typeface="Consolas"/>
              </a:rPr>
              <a:t>spec</a:t>
            </a:r>
            <a:r>
              <a:rPr b="0" sz="1500">
                <a:solidFill>
                  <a:srgbClr val="0F172A"/>
                </a:solidFill>
              </a:rPr>
              <a:t> / code / </a:t>
            </a:r>
            <a:r>
              <a:rPr sz="1500">
                <a:solidFill>
                  <a:srgbClr val="BE123C"/>
                </a:solidFill>
                <a:latin typeface="Consolas"/>
              </a:rPr>
              <a:t>.claude</a:t>
            </a:r>
            <a:r>
              <a:rPr b="0" sz="1500">
                <a:solidFill>
                  <a:srgbClr val="0F172A"/>
                </a:solidFill>
              </a:rPr>
              <a:t> contract)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200399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– </a:t>
            </a:r>
            <a:r>
              <a:rPr b="0" sz="1500">
                <a:solidFill>
                  <a:srgbClr val="0F172A"/>
                </a:solidFill>
              </a:rPr>
              <a:t>spec format · reconciliation (who wins) · the build loop · the </a:t>
            </a:r>
            <a:r>
              <a:rPr sz="1500">
                <a:solidFill>
                  <a:srgbClr val="BE123C"/>
                </a:solidFill>
                <a:latin typeface="Consolas"/>
              </a:rPr>
              <a:t>.claude</a:t>
            </a:r>
            <a:r>
              <a:rPr b="0" sz="1500">
                <a:solidFill>
                  <a:srgbClr val="0F172A"/>
                </a:solidFill>
              </a:rPr>
              <a:t> adapter · validation by simulating the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3785615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Decisions</a:t>
            </a:r>
            <a:r>
              <a:rPr b="0" sz="1500">
                <a:solidFill>
                  <a:srgbClr val="0F172A"/>
                </a:solidFill>
              </a:rPr>
              <a:t> — where we agree with the field, where we deliberately don't, open forks.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69663"/>
            <a:ext cx="10911535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Our current shape (real folders): </a:t>
            </a:r>
            <a:r>
              <a:rPr sz="1500">
                <a:solidFill>
                  <a:srgbClr val="BE123C"/>
                </a:solidFill>
                <a:latin typeface="Consolas"/>
              </a:rPr>
              <a:t>NORTH-STAR.md</a:t>
            </a:r>
            <a:r>
              <a:rPr b="0" sz="1500">
                <a:solidFill>
                  <a:srgbClr val="0F172A"/>
                </a:solidFill>
              </a:rPr>
              <a:t>, </a:t>
            </a:r>
            <a:r>
              <a:rPr sz="1500">
                <a:solidFill>
                  <a:srgbClr val="BE123C"/>
                </a:solidFill>
                <a:latin typeface="Consolas"/>
              </a:rPr>
              <a:t>.claude/commands/{new,change,sync}.md</a:t>
            </a:r>
            <a:r>
              <a:rPr b="0" sz="1500">
                <a:solidFill>
                  <a:srgbClr val="0F172A"/>
                </a:solidFill>
              </a:rPr>
              <a:t>, </a:t>
            </a:r>
            <a:r>
              <a:rPr sz="1500">
                <a:solidFill>
                  <a:srgbClr val="BE123C"/>
                </a:solidFill>
                <a:latin typeface="Consolas"/>
              </a:rPr>
              <a:t>.claude/agents/{spec-projector,reviewer}.md</a:t>
            </a:r>
            <a:r>
              <a:rPr b="0" sz="1500">
                <a:solidFill>
                  <a:srgbClr val="0F172A"/>
                </a:solidFill>
              </a:rPr>
              <a:t>, </a:t>
            </a:r>
            <a:r>
              <a:rPr sz="1500">
                <a:solidFill>
                  <a:srgbClr val="BE123C"/>
                </a:solidFill>
                <a:latin typeface="Consolas"/>
              </a:rPr>
              <a:t>.claude/skills/{proof-gate,agentic-patterns}/</a:t>
            </a:r>
            <a:r>
              <a:rPr b="0" sz="1500">
                <a:solidFill>
                  <a:srgbClr val="0F172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4000">
                <a:solidFill>
                  <a:srgbClr val="FFFFFF"/>
                </a:solidFill>
              </a:rPr>
              <a:t>OpenSpec</a:t>
            </a:r>
          </a:p>
          <a:p>
            <a:pPr>
              <a:spcAft>
                <a:spcPts val="600"/>
              </a:spcAft>
            </a:pPr>
            <a:r>
              <a:rPr b="0" sz="2200">
                <a:solidFill>
                  <a:srgbClr val="E9D5FF"/>
                </a:solidFill>
              </a:rPr>
              <a:t>Agent-agnostic spec-driven development, built on a living spec tree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What it is + who's behind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37160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OpenSpec</a:t>
            </a:r>
            <a:r>
              <a:rPr b="0" sz="1500">
                <a:solidFill>
                  <a:srgbClr val="0F172A"/>
                </a:solidFill>
              </a:rPr>
              <a:t> by </a:t>
            </a:r>
            <a:r>
              <a:rPr b="1" sz="1500">
                <a:solidFill>
                  <a:srgbClr val="0F172A"/>
                </a:solidFill>
              </a:rPr>
              <a:t>Fission-AI</a:t>
            </a:r>
            <a:r>
              <a:rPr b="0" sz="1500">
                <a:solidFill>
                  <a:srgbClr val="0F172A"/>
                </a:solidFill>
              </a:rPr>
              <a:t> — a lightweight, </a:t>
            </a:r>
            <a:r>
              <a:rPr b="1" sz="1500">
                <a:solidFill>
                  <a:srgbClr val="0F172A"/>
                </a:solidFill>
              </a:rPr>
              <a:t>agent-agnostic</a:t>
            </a:r>
            <a:r>
              <a:rPr b="0" sz="1500">
                <a:solidFill>
                  <a:srgbClr val="0F172A"/>
                </a:solidFill>
              </a:rPr>
              <a:t> spec-driven development (SDD) tool for AI coding assistants. MIT, </a:t>
            </a:r>
            <a:r>
              <a:rPr b="1" sz="1500">
                <a:solidFill>
                  <a:srgbClr val="0F172A"/>
                </a:solidFill>
              </a:rPr>
              <a:t>~55.7k GitHub stars</a:t>
            </a:r>
            <a:r>
              <a:rPr b="0" sz="1500">
                <a:solidFill>
                  <a:srgbClr val="0F172A"/>
                </a:solidFill>
              </a:rPr>
              <a:t>, active through mid-June 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956816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Core idea: agree on </a:t>
            </a:r>
            <a:r>
              <a:rPr b="1" sz="1500">
                <a:solidFill>
                  <a:srgbClr val="0F172A"/>
                </a:solidFill>
              </a:rPr>
              <a:t>WHAT</a:t>
            </a:r>
            <a:r>
              <a:rPr b="0" sz="1500">
                <a:solidFill>
                  <a:srgbClr val="0F172A"/>
                </a:solidFill>
              </a:rPr>
              <a:t> before code. Split the repo into a </a:t>
            </a:r>
            <a:r>
              <a:rPr b="1" sz="1500">
                <a:solidFill>
                  <a:srgbClr val="0F172A"/>
                </a:solidFill>
              </a:rPr>
              <a:t>source-of-truth spec tree</a:t>
            </a:r>
            <a:r>
              <a:rPr b="0" sz="1500">
                <a:solidFill>
                  <a:srgbClr val="0F172A"/>
                </a:solidFill>
              </a:rPr>
              <a:t> and a </a:t>
            </a:r>
            <a:r>
              <a:rPr b="1" sz="1500">
                <a:solidFill>
                  <a:srgbClr val="0F172A"/>
                </a:solidFill>
              </a:rPr>
              <a:t>proposed-changes tree</a:t>
            </a:r>
            <a:r>
              <a:rPr b="0" sz="1500">
                <a:solidFill>
                  <a:srgbClr val="0F172A"/>
                </a:solidFill>
              </a:rPr>
              <a:t>; a sync/archive step merges change deltas back so the spec </a:t>
            </a:r>
            <a:r>
              <a:rPr b="1" sz="1500">
                <a:solidFill>
                  <a:srgbClr val="0F172A"/>
                </a:solidFill>
              </a:rPr>
              <a:t>grows as changes land</a:t>
            </a:r>
            <a:r>
              <a:rPr b="0" sz="1500">
                <a:solidFill>
                  <a:srgbClr val="0F172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Pure markdown + a CLI + generated instruction files (</a:t>
            </a:r>
            <a:r>
              <a:rPr sz="1500">
                <a:solidFill>
                  <a:srgbClr val="BE123C"/>
                </a:solidFill>
                <a:latin typeface="Consolas"/>
              </a:rPr>
              <a:t>CLAUDE.md</a:t>
            </a:r>
            <a:r>
              <a:rPr b="0" sz="1500">
                <a:solidFill>
                  <a:srgbClr val="0F172A"/>
                </a:solidFill>
              </a:rPr>
              <a:t>/</a:t>
            </a:r>
            <a:r>
              <a:rPr sz="1500">
                <a:solidFill>
                  <a:srgbClr val="BE123C"/>
                </a:solidFill>
                <a:latin typeface="Consolas"/>
              </a:rPr>
              <a:t>AGENTS.md</a:t>
            </a:r>
            <a:r>
              <a:rPr b="0" sz="1500">
                <a:solidFill>
                  <a:srgbClr val="0F172A"/>
                </a:solidFill>
              </a:rPr>
              <a:t> + per-tool slash commands). </a:t>
            </a:r>
            <a:r>
              <a:rPr b="1" sz="1500">
                <a:solidFill>
                  <a:srgbClr val="0F172A"/>
                </a:solidFill>
              </a:rPr>
              <a:t>No IDE lock-in</a:t>
            </a:r>
            <a:r>
              <a:rPr b="0" sz="1500">
                <a:solidFill>
                  <a:srgbClr val="0F172A"/>
                </a:solidFill>
              </a:rPr>
              <a:t> (vs Kiro), </a:t>
            </a:r>
            <a:r>
              <a:rPr b="1" sz="1500">
                <a:solidFill>
                  <a:srgbClr val="0F172A"/>
                </a:solidFill>
              </a:rPr>
              <a:t>no Python</a:t>
            </a:r>
            <a:r>
              <a:rPr b="0" sz="1500">
                <a:solidFill>
                  <a:srgbClr val="0F172A"/>
                </a:solidFill>
              </a:rPr>
              <a:t> (vs Spec Kit).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12724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Strong dogfooding: the tool specs </a:t>
            </a:r>
            <a:r>
              <a:rPr b="1" sz="1500">
                <a:solidFill>
                  <a:srgbClr val="0F172A"/>
                </a:solidFill>
              </a:rPr>
              <a:t>itself</a:t>
            </a:r>
            <a:r>
              <a:rPr b="0" sz="1500">
                <a:solidFill>
                  <a:srgbClr val="0F172A"/>
                </a:solidFill>
              </a:rPr>
              <a:t> with </a:t>
            </a:r>
            <a:r>
              <a:rPr b="1" sz="1500">
                <a:solidFill>
                  <a:srgbClr val="0F172A"/>
                </a:solidFill>
              </a:rPr>
              <a:t>~48 capability folders</a:t>
            </a:r>
            <a:r>
              <a:rPr b="0" sz="1500">
                <a:solidFill>
                  <a:srgbClr val="0F172A"/>
                </a:solidFill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11296"/>
            <a:ext cx="10911535" cy="237744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bIns="91440"/>
          <a:lstStyle/>
          <a:p>
            <a:pPr algn="ctr"/>
            <a:r>
              <a:rPr sz="1100">
                <a:solidFill>
                  <a:srgbClr val="E2E8F0"/>
                </a:solidFill>
                <a:latin typeface="Consolas"/>
              </a:rPr>
              <a:t>openspec/                  # created by `openspec init`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config.yaml              # active schema/profile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specs/                   # SOURCE OF TRUTH — behavior NOW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  &lt;capability&gt;/spec.md   # one capability per folder (cli-validate/, schema-resolution/)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changes/                 # PROPOSED modifications (live until archived)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  &lt;change-name&gt;/         # verb-led kebab-case (add-global-install-scope/)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    proposal.md  design.md  tasks.md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    specs/&lt;capability&gt;/spec.md   # DELTA spec for this change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  archive/YYYY-MM-DD-&lt;change-name&gt;/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initiatives/  explorations/      # durable + exploratory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98464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Source: github.com/Fission-AI/OpenSpec (repo metadata + contents listings)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Spec format — requirements +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Markdown, </a:t>
            </a:r>
            <a:r>
              <a:rPr b="1" sz="1500">
                <a:solidFill>
                  <a:srgbClr val="0F172A"/>
                </a:solidFill>
              </a:rPr>
              <a:t>RFC-2119 SHALL prose + WHEN/THEN/AND bullets</a:t>
            </a:r>
            <a:r>
              <a:rPr b="0" sz="1500">
                <a:solidFill>
                  <a:srgbClr val="0F172A"/>
                </a:solidFill>
              </a:rPr>
              <a:t> (NOT EARS — the word appears nowhere in conventions/concepts). A capability </a:t>
            </a:r>
            <a:r>
              <a:rPr sz="1500">
                <a:solidFill>
                  <a:srgbClr val="BE123C"/>
                </a:solidFill>
                <a:latin typeface="Consolas"/>
              </a:rPr>
              <a:t>spec.md</a:t>
            </a:r>
            <a:r>
              <a:rPr b="0" sz="1500">
                <a:solidFill>
                  <a:srgbClr val="0F172A"/>
                </a:solidFill>
              </a:rPr>
              <a:t>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84831"/>
            <a:ext cx="10911535" cy="258775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bIns="91440"/>
          <a:lstStyle/>
          <a:p>
            <a:pPr algn="ctr"/>
            <a:r>
              <a:rPr sz="1100">
                <a:solidFill>
                  <a:srgbClr val="E2E8F0"/>
                </a:solidFill>
                <a:latin typeface="Consolas"/>
              </a:rPr>
              <a:t>## Purpose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&lt;capability description&gt;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## Requirements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### Requirement: Install Scope Selection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The init command SHALL support install scope selection.   # narrative + 1 normative SHALL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#### Scenario: User picks global scope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- **WHEN** the user selects global install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- **THEN** commands are written to the user home directory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- **AND** the project config records the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78231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Hard rule</a:t>
            </a:r>
            <a:r>
              <a:rPr b="0" sz="1500">
                <a:solidFill>
                  <a:srgbClr val="0F172A"/>
                </a:solidFill>
              </a:rPr>
              <a:t> (verified): every requirement MUST have descriptive text AND </a:t>
            </a:r>
            <a:r>
              <a:rPr b="1" sz="1500">
                <a:solidFill>
                  <a:srgbClr val="0F172A"/>
                </a:solidFill>
              </a:rPr>
              <a:t>≥1 `#### Scenario:`</a:t>
            </a:r>
            <a:r>
              <a:rPr b="0" sz="1500">
                <a:solidFill>
                  <a:srgbClr val="0F172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509320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Singular focus</a:t>
            </a:r>
            <a:r>
              <a:rPr b="0" sz="1500">
                <a:solidFill>
                  <a:srgbClr val="0F172A"/>
                </a:solidFill>
              </a:rPr>
              <a:t> — one responsibility per capability folder.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540410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Delta specs</a:t>
            </a:r>
            <a:r>
              <a:rPr b="0" sz="1500">
                <a:solidFill>
                  <a:srgbClr val="0F172A"/>
                </a:solidFill>
              </a:rPr>
              <a:t> (inside a change) use operation headers — and the spec.md template itself is a delta: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Spec format — requirements + scenarios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11535" cy="1691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8"/>
              </a:tblGrid>
              <a:tr h="338327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Header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Merge effect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</a:tr>
              <a:tr h="338327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## ADDED Requirements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add requirement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8327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## MODIFIED Requirements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replace existing requirement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8327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## REMOVED Requirements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remove it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8331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RENAMED (FROM/TO)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rename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200400"/>
            <a:ext cx="10911535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Rationale (concepts doc): "A delta shows exactly what's changing. Reading a full spec, you'd have to diff it mentally against the current version."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Spec &lt;-&gt; code reconciliation &amp;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Two distinct mechanisms — </a:t>
            </a:r>
            <a:r>
              <a:rPr b="1" sz="1500">
                <a:solidFill>
                  <a:srgbClr val="0F172A"/>
                </a:solidFill>
              </a:rPr>
              <a:t>don't conflate them</a:t>
            </a:r>
            <a:r>
              <a:rPr b="0" sz="1500">
                <a:solidFill>
                  <a:srgbClr val="0F172A"/>
                </a:solidFill>
              </a:rPr>
              <a:t>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47088"/>
          <a:ext cx="10911535" cy="1362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4061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Layer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What it does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Determinism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</a:tr>
              <a:tr h="34061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spec&lt;-&gt;spec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/opsx:sync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,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openspec archive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Merge change deltas into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specs/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(ADDED/MODIFIED/REMOVED/RENAMED).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Idempotent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, no dup requirements.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Mechanical-ish, AI-driven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4061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spec&lt;-&gt;code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/opsx:verify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(expanded,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opt-in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)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LLM reads tasks.md + deltas, searches code, reports drift.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Non-deterministic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4061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structure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openspec validate --strict --json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Structure only: required sections, every-req-has-scenario, "No deltas found". CI gate.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Fully mechanical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19" y="3346704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sz="1500">
                <a:solidFill>
                  <a:srgbClr val="BE123C"/>
                </a:solidFill>
                <a:latin typeface="Consolas"/>
              </a:rPr>
              <a:t>/opsx:verify</a:t>
            </a:r>
            <a:r>
              <a:rPr b="0" sz="1500">
                <a:solidFill>
                  <a:srgbClr val="0F172A"/>
                </a:solidFill>
              </a:rPr>
              <a:t> 3 axes: </a:t>
            </a:r>
            <a:r>
              <a:rPr b="1" sz="1500">
                <a:solidFill>
                  <a:srgbClr val="0F172A"/>
                </a:solidFill>
              </a:rPr>
              <a:t>Completeness</a:t>
            </a:r>
            <a:r>
              <a:rPr b="0" sz="1500">
                <a:solidFill>
                  <a:srgbClr val="0F172A"/>
                </a:solidFill>
              </a:rPr>
              <a:t> (counts </a:t>
            </a:r>
            <a:r>
              <a:rPr sz="1500">
                <a:solidFill>
                  <a:srgbClr val="BE123C"/>
                </a:solidFill>
                <a:latin typeface="Consolas"/>
              </a:rPr>
              <a:t>- [x]</a:t>
            </a:r>
            <a:r>
              <a:rPr b="0" sz="1500">
                <a:solidFill>
                  <a:srgbClr val="0F172A"/>
                </a:solidFill>
              </a:rPr>
              <a:t> vs </a:t>
            </a:r>
            <a:r>
              <a:rPr sz="1500">
                <a:solidFill>
                  <a:srgbClr val="BE123C"/>
                </a:solidFill>
                <a:latin typeface="Consolas"/>
              </a:rPr>
              <a:t>- [ ]</a:t>
            </a:r>
            <a:r>
              <a:rPr b="0" sz="1500">
                <a:solidFill>
                  <a:srgbClr val="0F172A"/>
                </a:solidFill>
              </a:rPr>
              <a:t>, "Tasks: X/N complete") · </a:t>
            </a:r>
            <a:r>
              <a:rPr b="1" sz="1500">
                <a:solidFill>
                  <a:srgbClr val="0F172A"/>
                </a:solidFill>
              </a:rPr>
              <a:t>Correctness</a:t>
            </a:r>
            <a:r>
              <a:rPr b="0" sz="1500">
                <a:solidFill>
                  <a:srgbClr val="0F172A"/>
                </a:solidFill>
              </a:rPr>
              <a:t> (matches spec) · </a:t>
            </a:r>
            <a:r>
              <a:rPr b="1" sz="1500">
                <a:solidFill>
                  <a:srgbClr val="0F172A"/>
                </a:solidFill>
              </a:rPr>
              <a:t>Coherence</a:t>
            </a:r>
            <a:r>
              <a:rPr b="0" sz="1500">
                <a:solidFill>
                  <a:srgbClr val="0F172A"/>
                </a:solidFill>
              </a:rPr>
              <a:t> (follows design). Output: CRITICAL / WARNING / SUGGESTION with file:line.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931920"/>
            <a:ext cx="10820095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Key gap:</a:t>
            </a:r>
            <a:r>
              <a:rPr b="0" sz="1500">
                <a:solidFill>
                  <a:srgbClr val="0F172A"/>
                </a:solidFill>
              </a:rPr>
              <a:t> </a:t>
            </a:r>
            <a:r>
              <a:rPr sz="1500">
                <a:solidFill>
                  <a:srgbClr val="BE123C"/>
                </a:solidFill>
                <a:latin typeface="Consolas"/>
              </a:rPr>
              <a:t>validate</a:t>
            </a:r>
            <a:r>
              <a:rPr b="0" sz="1500">
                <a:solidFill>
                  <a:srgbClr val="0F172A"/>
                </a:solidFill>
              </a:rPr>
              <a:t> checks structure, </a:t>
            </a:r>
            <a:r>
              <a:rPr b="1" sz="1500">
                <a:solidFill>
                  <a:srgbClr val="0F172A"/>
                </a:solidFill>
              </a:rPr>
              <a:t>not truth</a:t>
            </a:r>
            <a:r>
              <a:rPr b="0" sz="1500">
                <a:solidFill>
                  <a:srgbClr val="0F172A"/>
                </a:solidFill>
              </a:rPr>
              <a:t> — it does NOT confirm a MODIFIED req matches an existing one, and </a:t>
            </a:r>
            <a:r>
              <a:rPr b="1" sz="1500">
                <a:solidFill>
                  <a:srgbClr val="0F172A"/>
                </a:solidFill>
              </a:rPr>
              <a:t>never touches code</a:t>
            </a:r>
            <a:r>
              <a:rPr b="0" sz="1500">
                <a:solidFill>
                  <a:srgbClr val="0F172A"/>
                </a:solidFill>
              </a:rPr>
              <a:t>. There is </a:t>
            </a:r>
            <a:r>
              <a:rPr b="1" sz="1500">
                <a:solidFill>
                  <a:srgbClr val="0F172A"/>
                </a:solidFill>
              </a:rPr>
              <a:t>no `openspec sync` or `openspec diff` CLI verb</a:t>
            </a:r>
            <a:r>
              <a:rPr b="0" sz="1500">
                <a:solidFill>
                  <a:srgbClr val="0F172A"/>
                </a:solidFill>
              </a:rPr>
              <a:t>; sync is a skill.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791456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Conflict handling</a:t>
            </a:r>
            <a:r>
              <a:rPr b="0" sz="1500">
                <a:solidFill>
                  <a:srgbClr val="0F172A"/>
                </a:solidFill>
              </a:rPr>
              <a:t> when multiple changes touch one spec is </a:t>
            </a:r>
            <a:r>
              <a:rPr b="1" sz="1500">
                <a:solidFill>
                  <a:srgbClr val="0F172A"/>
                </a:solidFill>
              </a:rPr>
              <a:t>UNSPECIFIED</a:t>
            </a:r>
            <a:r>
              <a:rPr b="0" sz="1500">
                <a:solidFill>
                  <a:srgbClr val="0F172A"/>
                </a:solidFill>
              </a:rPr>
              <a:t> — no documented 3-way merge.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75504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Source: specs-sync-skill, opsx-verify-skill, cli-validate spec.md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Workflow — commands, not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Install </a:t>
            </a:r>
            <a:r>
              <a:rPr sz="1500">
                <a:solidFill>
                  <a:srgbClr val="BE123C"/>
                </a:solidFill>
                <a:latin typeface="Consolas"/>
              </a:rPr>
              <a:t>@fission-ai/openspec</a:t>
            </a:r>
            <a:r>
              <a:rPr b="0" sz="1500">
                <a:solidFill>
                  <a:srgbClr val="0F172A"/>
                </a:solidFill>
              </a:rPr>
              <a:t> (Node 20.19.0+) -&gt; </a:t>
            </a:r>
            <a:r>
              <a:rPr sz="1500">
                <a:solidFill>
                  <a:srgbClr val="BE123C"/>
                </a:solidFill>
                <a:latin typeface="Consolas"/>
              </a:rPr>
              <a:t>openspec init</a:t>
            </a:r>
            <a:r>
              <a:rPr b="0" sz="1500">
                <a:solidFill>
                  <a:srgbClr val="0F172A"/>
                </a:solidFill>
              </a:rPr>
              <a:t> (pick tools + profile) -&gt; </a:t>
            </a:r>
            <a:r>
              <a:rPr sz="1500">
                <a:solidFill>
                  <a:srgbClr val="BE123C"/>
                </a:solidFill>
                <a:latin typeface="Consolas"/>
              </a:rPr>
              <a:t>openspec update</a:t>
            </a:r>
            <a:r>
              <a:rPr b="0" sz="1500">
                <a:solidFill>
                  <a:srgbClr val="0F172A"/>
                </a:solidFill>
              </a:rPr>
              <a:t> refreshes agent instructions.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84831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The loop: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6032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PROPOSE</a:t>
            </a:r>
            <a:r>
              <a:rPr b="0" sz="1500">
                <a:solidFill>
                  <a:srgbClr val="0F172A"/>
                </a:solidFill>
              </a:rPr>
              <a:t> — </a:t>
            </a:r>
            <a:r>
              <a:rPr sz="1500">
                <a:solidFill>
                  <a:srgbClr val="BE123C"/>
                </a:solidFill>
                <a:latin typeface="Consolas"/>
              </a:rPr>
              <a:t>/opsx:propose &lt;idea&gt;</a:t>
            </a:r>
            <a:r>
              <a:rPr b="0" sz="1500">
                <a:solidFill>
                  <a:srgbClr val="0F172A"/>
                </a:solidFill>
              </a:rPr>
              <a:t> scaffolds the change folder: proposal -&gt; deltas -&gt; design -&gt; tasks, in dependency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145536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REVIEW</a:t>
            </a:r>
            <a:r>
              <a:rPr b="0" sz="1500">
                <a:solidFill>
                  <a:srgbClr val="0F172A"/>
                </a:solidFill>
              </a:rPr>
              <a:t> — human refines artifacts before code; </a:t>
            </a:r>
            <a:r>
              <a:rPr sz="1500">
                <a:solidFill>
                  <a:srgbClr val="BE123C"/>
                </a:solidFill>
                <a:latin typeface="Consolas"/>
              </a:rPr>
              <a:t>openspec validate --strict</a:t>
            </a:r>
            <a:r>
              <a:rPr b="0" sz="1500">
                <a:solidFill>
                  <a:srgbClr val="0F172A"/>
                </a:solidFill>
              </a:rPr>
              <a:t>; </a:t>
            </a:r>
            <a:r>
              <a:rPr sz="1500">
                <a:solidFill>
                  <a:srgbClr val="BE123C"/>
                </a:solidFill>
                <a:latin typeface="Consolas"/>
              </a:rPr>
              <a:t>view</a:t>
            </a:r>
            <a:r>
              <a:rPr b="0" sz="1500">
                <a:solidFill>
                  <a:srgbClr val="0F172A"/>
                </a:solidFill>
              </a:rPr>
              <a:t>/</a:t>
            </a:r>
            <a:r>
              <a:rPr sz="1500">
                <a:solidFill>
                  <a:srgbClr val="BE123C"/>
                </a:solidFill>
                <a:latin typeface="Consolas"/>
              </a:rPr>
              <a:t>list</a:t>
            </a:r>
            <a:r>
              <a:rPr b="0" sz="1500">
                <a:solidFill>
                  <a:srgbClr val="0F172A"/>
                </a:solidFill>
              </a:rPr>
              <a:t>/</a:t>
            </a:r>
            <a:r>
              <a:rPr sz="1500">
                <a:solidFill>
                  <a:srgbClr val="BE123C"/>
                </a:solidFill>
                <a:latin typeface="Consolas"/>
              </a:rPr>
              <a:t>show</a:t>
            </a:r>
            <a:r>
              <a:rPr b="0" sz="1500">
                <a:solidFill>
                  <a:srgbClr val="0F172A"/>
                </a:solidFill>
              </a:rPr>
              <a:t>/</a:t>
            </a:r>
            <a:r>
              <a:rPr sz="1500">
                <a:solidFill>
                  <a:srgbClr val="BE123C"/>
                </a:solidFill>
                <a:latin typeface="Consolas"/>
              </a:rPr>
              <a:t>status</a:t>
            </a:r>
            <a:r>
              <a:rPr b="0" sz="1500">
                <a:solidFill>
                  <a:srgbClr val="0F172A"/>
                </a:solidFill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45643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APPLY</a:t>
            </a:r>
            <a:r>
              <a:rPr b="0" sz="1500">
                <a:solidFill>
                  <a:srgbClr val="0F172A"/>
                </a:solidFill>
              </a:rPr>
              <a:t> — </a:t>
            </a:r>
            <a:r>
              <a:rPr sz="1500">
                <a:solidFill>
                  <a:srgbClr val="BE123C"/>
                </a:solidFill>
                <a:latin typeface="Consolas"/>
              </a:rPr>
              <a:t>/opsx:apply</a:t>
            </a:r>
            <a:r>
              <a:rPr b="0" sz="1500">
                <a:solidFill>
                  <a:srgbClr val="0F172A"/>
                </a:solidFill>
              </a:rPr>
              <a:t> implements tasks.md, ticking checkboxes.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376732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VERIFY</a:t>
            </a:r>
            <a:r>
              <a:rPr b="0" sz="1500">
                <a:solidFill>
                  <a:srgbClr val="0F172A"/>
                </a:solidFill>
              </a:rPr>
              <a:t> (expanded, optional) — </a:t>
            </a:r>
            <a:r>
              <a:rPr sz="1500">
                <a:solidFill>
                  <a:srgbClr val="BE123C"/>
                </a:solidFill>
                <a:latin typeface="Consolas"/>
              </a:rPr>
              <a:t>/opsx:verify</a:t>
            </a:r>
            <a:r>
              <a:rPr b="0" sz="1500">
                <a:solidFill>
                  <a:srgbClr val="0F172A"/>
                </a:solidFill>
              </a:rPr>
              <a:t> AI-checks code vs spec.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4078224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SYNC/ARCHIVE</a:t>
            </a:r>
            <a:r>
              <a:rPr b="0" sz="1500">
                <a:solidFill>
                  <a:srgbClr val="0F172A"/>
                </a:solidFill>
              </a:rPr>
              <a:t> — </a:t>
            </a:r>
            <a:r>
              <a:rPr sz="1500">
                <a:solidFill>
                  <a:srgbClr val="BE123C"/>
                </a:solidFill>
                <a:latin typeface="Consolas"/>
              </a:rPr>
              <a:t>/opsx:sync</a:t>
            </a:r>
            <a:r>
              <a:rPr b="0" sz="1500">
                <a:solidFill>
                  <a:srgbClr val="0F172A"/>
                </a:solidFill>
              </a:rPr>
              <a:t> merges deltas; </a:t>
            </a:r>
            <a:r>
              <a:rPr sz="1500">
                <a:solidFill>
                  <a:srgbClr val="BE123C"/>
                </a:solidFill>
                <a:latin typeface="Consolas"/>
              </a:rPr>
              <a:t>/opsx:archive</a:t>
            </a:r>
            <a:r>
              <a:rPr b="0" sz="1500">
                <a:solidFill>
                  <a:srgbClr val="0F172A"/>
                </a:solidFill>
              </a:rPr>
              <a:t> validates + dates the folder into </a:t>
            </a:r>
            <a:r>
              <a:rPr sz="1500">
                <a:solidFill>
                  <a:srgbClr val="BE123C"/>
                </a:solidFill>
                <a:latin typeface="Consolas"/>
              </a:rPr>
              <a:t>changes/archive/</a:t>
            </a:r>
            <a:r>
              <a:rPr b="0" sz="1500">
                <a:solidFill>
                  <a:srgbClr val="0F172A"/>
                </a:solidFill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4736592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CORE profile:</a:t>
            </a:r>
            <a:r>
              <a:rPr b="0" sz="1500">
                <a:solidFill>
                  <a:srgbClr val="0F172A"/>
                </a:solidFill>
              </a:rPr>
              <a:t> </a:t>
            </a:r>
            <a:r>
              <a:rPr sz="1500">
                <a:solidFill>
                  <a:srgbClr val="BE123C"/>
                </a:solidFill>
                <a:latin typeface="Consolas"/>
              </a:rPr>
              <a:t>propose · explore · apply · sync · archive</a:t>
            </a:r>
            <a:r>
              <a:rPr b="0" sz="1500">
                <a:solidFill>
                  <a:srgbClr val="0F172A"/>
                </a:solidFill>
              </a:rPr>
              <a:t>. </a:t>
            </a:r>
            <a:r>
              <a:rPr b="1" sz="1500">
                <a:solidFill>
                  <a:srgbClr val="0F172A"/>
                </a:solidFill>
              </a:rPr>
              <a:t>EXPANDED adds:</a:t>
            </a:r>
            <a:r>
              <a:rPr b="0" sz="1500">
                <a:solidFill>
                  <a:srgbClr val="0F172A"/>
                </a:solidFill>
              </a:rPr>
              <a:t> </a:t>
            </a:r>
            <a:r>
              <a:rPr sz="1500">
                <a:solidFill>
                  <a:srgbClr val="BE123C"/>
                </a:solidFill>
                <a:latin typeface="Consolas"/>
              </a:rPr>
              <a:t>new · continue · ff · verify · bulk-archive · onboard</a:t>
            </a:r>
            <a:r>
              <a:rPr b="0" sz="1500">
                <a:solidFill>
                  <a:srgbClr val="0F172A"/>
                </a:solidFill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5321807"/>
            <a:ext cx="10820095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Workflow is </a:t>
            </a:r>
            <a:r>
              <a:rPr b="1" sz="1500">
                <a:solidFill>
                  <a:srgbClr val="0F172A"/>
                </a:solidFill>
              </a:rPr>
              <a:t>data, not prompt</a:t>
            </a:r>
            <a:r>
              <a:rPr b="0" sz="1500">
                <a:solidFill>
                  <a:srgbClr val="0F172A"/>
                </a:solidFill>
              </a:rPr>
              <a:t>: per-schema </a:t>
            </a:r>
            <a:r>
              <a:rPr sz="1500">
                <a:solidFill>
                  <a:srgbClr val="BE123C"/>
                </a:solidFill>
                <a:latin typeface="Consolas"/>
              </a:rPr>
              <a:t>schema.yaml</a:t>
            </a:r>
            <a:r>
              <a:rPr b="0" sz="1500">
                <a:solidFill>
                  <a:srgbClr val="0F172A"/>
                </a:solidFill>
              </a:rPr>
              <a:t> artifact graph — proposal -&gt; specs+design -&gt; tasks (requires BOTH) -&gt; apply. Forkable via </a:t>
            </a:r>
            <a:r>
              <a:rPr sz="1500">
                <a:solidFill>
                  <a:srgbClr val="BE123C"/>
                </a:solidFill>
                <a:latin typeface="Consolas"/>
              </a:rPr>
              <a:t>openspec schema fork</a:t>
            </a:r>
            <a:r>
              <a:rPr b="0" sz="1500">
                <a:solidFill>
                  <a:srgbClr val="0F172A"/>
                </a:solidFill>
              </a:rPr>
              <a:t>; a second </a:t>
            </a:r>
            <a:r>
              <a:rPr sz="1500">
                <a:solidFill>
                  <a:srgbClr val="BE123C"/>
                </a:solidFill>
                <a:latin typeface="Consolas"/>
              </a:rPr>
              <a:t>workspace-planning</a:t>
            </a:r>
            <a:r>
              <a:rPr b="0" sz="1500">
                <a:solidFill>
                  <a:srgbClr val="0F172A"/>
                </a:solidFill>
              </a:rPr>
              <a:t> schema already exists.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Workflow — commands, not stages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Philosophy (workflows doc): "Commands are things you can do, not stages you're stuck in" · "Dependencies are enablers—they show what's possible, not what's required next."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Strengths / weaknesses — and for OUR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84708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Clean </a:t>
            </a:r>
            <a:r>
              <a:rPr b="1" sz="1500">
                <a:solidFill>
                  <a:srgbClr val="0F172A"/>
                </a:solidFill>
              </a:rPr>
              <a:t>two-zone</a:t>
            </a:r>
            <a:r>
              <a:rPr b="0" sz="1500">
                <a:solidFill>
                  <a:srgbClr val="0F172A"/>
                </a:solidFill>
              </a:rPr>
              <a:t> model: current truth vs proposed change, explicit on disk.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15798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Delta requirements</a:t>
            </a:r>
            <a:r>
              <a:rPr b="0" sz="1500">
                <a:solidFill>
                  <a:srgbClr val="0F172A"/>
                </a:solidFill>
              </a:rPr>
              <a:t> -&gt; small, intent-shaped, reviewable diffs.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468879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Sync/archive = </a:t>
            </a:r>
            <a:r>
              <a:rPr b="1" sz="1500">
                <a:solidFill>
                  <a:srgbClr val="0F172A"/>
                </a:solidFill>
              </a:rPr>
              <a:t>living spec</a:t>
            </a:r>
            <a:r>
              <a:rPr b="0" sz="1500">
                <a:solidFill>
                  <a:srgbClr val="0F172A"/>
                </a:solidFill>
              </a:rPr>
              <a:t> via verified idempotent merge.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2779775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Genuinely </a:t>
            </a:r>
            <a:r>
              <a:rPr b="1" sz="1500">
                <a:solidFill>
                  <a:srgbClr val="0F172A"/>
                </a:solidFill>
              </a:rPr>
              <a:t>agent-agnostic</a:t>
            </a:r>
            <a:r>
              <a:rPr b="0" sz="1500">
                <a:solidFill>
                  <a:srgbClr val="0F172A"/>
                </a:solidFill>
              </a:rPr>
              <a:t>; deterministic </a:t>
            </a:r>
            <a:r>
              <a:rPr b="1" sz="1500">
                <a:solidFill>
                  <a:srgbClr val="0F172A"/>
                </a:solidFill>
              </a:rPr>
              <a:t>structural</a:t>
            </a:r>
            <a:r>
              <a:rPr b="0" sz="1500">
                <a:solidFill>
                  <a:srgbClr val="0F172A"/>
                </a:solidFill>
              </a:rPr>
              <a:t> gate (</a:t>
            </a:r>
            <a:r>
              <a:rPr sz="1500">
                <a:solidFill>
                  <a:srgbClr val="BE123C"/>
                </a:solidFill>
                <a:latin typeface="Consolas"/>
              </a:rPr>
              <a:t>validate --strict --json</a:t>
            </a:r>
            <a:r>
              <a:rPr b="0" sz="1500">
                <a:solidFill>
                  <a:srgbClr val="0F172A"/>
                </a:solidFill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63823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Weaknesses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3639311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Spec&lt;-&gt;code reconciliation is </a:t>
            </a:r>
            <a:r>
              <a:rPr b="1" sz="1500">
                <a:solidFill>
                  <a:srgbClr val="0F172A"/>
                </a:solidFill>
              </a:rPr>
              <a:t>only semantic/LLM</a:t>
            </a:r>
            <a:r>
              <a:rPr b="0" sz="1500">
                <a:solidFill>
                  <a:srgbClr val="0F172A"/>
                </a:solidFill>
              </a:rPr>
              <a:t> and </a:t>
            </a:r>
            <a:r>
              <a:rPr b="1" sz="1500">
                <a:solidFill>
                  <a:srgbClr val="0F172A"/>
                </a:solidFill>
              </a:rPr>
              <a:t>opt-in</a:t>
            </a:r>
            <a:r>
              <a:rPr b="0" sz="1500">
                <a:solidFill>
                  <a:srgbClr val="0F172A"/>
                </a:solidFill>
              </a:rPr>
              <a:t> — a green run never fails a wrong impl.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3950207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Verify is </a:t>
            </a:r>
            <a:r>
              <a:rPr b="1" sz="1500">
                <a:solidFill>
                  <a:srgbClr val="0F172A"/>
                </a:solidFill>
              </a:rPr>
              <a:t>non-deterministic</a:t>
            </a:r>
            <a:r>
              <a:rPr b="0" sz="1500">
                <a:solidFill>
                  <a:srgbClr val="0F172A"/>
                </a:solidFill>
              </a:rPr>
              <a:t>; can hallucinate "implemented" or miss gaps.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4261103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No runtime/behavioral proof</a:t>
            </a:r>
            <a:r>
              <a:rPr b="0" sz="1500">
                <a:solidFill>
                  <a:srgbClr val="0F172A"/>
                </a:solidFill>
              </a:rPr>
              <a:t> — correctness asserted by reading code, never executing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4571999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Multi-change conflict merge </a:t>
            </a:r>
            <a:r>
              <a:rPr b="1" sz="1500">
                <a:solidFill>
                  <a:srgbClr val="0F172A"/>
                </a:solidFill>
              </a:rPr>
              <a:t>unspecified</a:t>
            </a:r>
            <a:r>
              <a:rPr b="0" sz="1500">
                <a:solidFill>
                  <a:srgbClr val="0F172A"/>
                </a:solidFill>
              </a:rPr>
              <a:t>; peripheral surface (initiatives/explorations/workspaces) risks </a:t>
            </a:r>
            <a:r>
              <a:rPr b="1" sz="1500">
                <a:solidFill>
                  <a:srgbClr val="0F172A"/>
                </a:solidFill>
              </a:rPr>
              <a:t>ceremony creep</a:t>
            </a:r>
            <a:r>
              <a:rPr b="0" sz="1500">
                <a:solidFill>
                  <a:srgbClr val="0F172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Strengths / weaknesses — and for OUR harness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11535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8"/>
              </a:tblGrid>
              <a:tr h="33680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STEAL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AVOID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Two-zone disk model + explicit merge-on-completion as the spine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Letting reconciliation rest on an LLM reading code — boot the app, run real behavior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Delta ADDED/MODIFIED/REMOVED/RENAMED as the unit of change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Treating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validate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pass as "reconciled" — keep structure-gate and proof-gate distinct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Hard rule: every req has text + ≥1 scenario, enforced in a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git hook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4-artifact ceremony per tiny change — make heavy artifacts opt-in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Schema-as-data dependency graph (declarative, forkable)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Relying on generated AGENTS.md reminders as the sync mechanism — enforce mechanically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verify's 3-axis framing (completeness/correctness/coherence) —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but back it with EXECUTION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Claiming EARS when it's SHALL prose — be honest or commit to a checkable grammar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529584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Source: OpenSpec concepts/workflows/cli docs; verified repo corpus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4000">
                <a:solidFill>
                  <a:srgbClr val="FFFFFF"/>
                </a:solidFill>
              </a:rPr>
              <a:t>GitHub Spec Kit</a:t>
            </a:r>
          </a:p>
          <a:p>
            <a:pPr>
              <a:spcAft>
                <a:spcPts val="600"/>
              </a:spcAft>
            </a:pPr>
            <a:r>
              <a:rPr b="0" sz="2200">
                <a:solidFill>
                  <a:srgbClr val="E9D5FF"/>
                </a:solidFill>
              </a:rPr>
              <a:t>Constitution → Specify → Clarify → Plan → Tasks → Implement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What it is +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371600"/>
            <a:ext cx="10820095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Agent-agnostic toolkit</a:t>
            </a:r>
            <a:r>
              <a:rPr b="0" sz="1500">
                <a:solidFill>
                  <a:srgbClr val="0F172A"/>
                </a:solidFill>
              </a:rPr>
              <a:t>: one set of templates/scripts drives 30+ AI coding agents (Copilot, Claude Code, Gemini, Codex, Cursor, Windsurf, Zed, Kiro). Knowledge lives in </a:t>
            </a:r>
            <a:r>
              <a:rPr sz="1500">
                <a:solidFill>
                  <a:srgbClr val="BE123C"/>
                </a:solidFill>
                <a:latin typeface="Consolas"/>
              </a:rPr>
              <a:t>templates/</a:t>
            </a:r>
            <a:r>
              <a:rPr b="0" sz="1500">
                <a:solidFill>
                  <a:srgbClr val="0F172A"/>
                </a:solidFill>
              </a:rPr>
              <a:t> + </a:t>
            </a:r>
            <a:r>
              <a:rPr sz="1500">
                <a:solidFill>
                  <a:srgbClr val="BE123C"/>
                </a:solidFill>
                <a:latin typeface="Consolas"/>
              </a:rPr>
              <a:t>scripts/</a:t>
            </a:r>
            <a:r>
              <a:rPr b="0" sz="1500">
                <a:solidFill>
                  <a:srgbClr val="0F172A"/>
                </a:solidFill>
              </a:rPr>
              <a:t>, not a frozen app — "no lock-in."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231136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Pipeline runs as slash commands, all carrying the </a:t>
            </a:r>
            <a:r>
              <a:rPr b="1" sz="1500">
                <a:solidFill>
                  <a:srgbClr val="0F172A"/>
                </a:solidFill>
              </a:rPr>
              <a:t>`/speckit.`</a:t>
            </a:r>
            <a:r>
              <a:rPr b="0" sz="1500">
                <a:solidFill>
                  <a:srgbClr val="0F172A"/>
                </a:solidFill>
              </a:rPr>
              <a:t> prefix; each maps to an agent-skill id (e.g. </a:t>
            </a:r>
            <a:r>
              <a:rPr sz="1500">
                <a:solidFill>
                  <a:srgbClr val="BE123C"/>
                </a:solidFill>
                <a:latin typeface="Consolas"/>
              </a:rPr>
              <a:t>speckit-clarify</a:t>
            </a:r>
            <a:r>
              <a:rPr b="0" sz="1500">
                <a:solidFill>
                  <a:srgbClr val="0F172A"/>
                </a:solidFill>
              </a:rPr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816352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sz="1500">
                <a:solidFill>
                  <a:srgbClr val="BE123C"/>
                </a:solidFill>
                <a:latin typeface="Consolas"/>
              </a:rPr>
              <a:t>specify init &lt;name&gt; --integration &lt;agent&gt;</a:t>
            </a:r>
            <a:r>
              <a:rPr b="0" sz="1500">
                <a:solidFill>
                  <a:srgbClr val="0F172A"/>
                </a:solidFill>
              </a:rPr>
              <a:t> (or </a:t>
            </a:r>
            <a:r>
              <a:rPr sz="1500">
                <a:solidFill>
                  <a:srgbClr val="BE123C"/>
                </a:solidFill>
                <a:latin typeface="Consolas"/>
              </a:rPr>
              <a:t>init .</a:t>
            </a:r>
            <a:r>
              <a:rPr b="0" sz="1500">
                <a:solidFill>
                  <a:srgbClr val="0F172A"/>
                </a:solidFill>
              </a:rPr>
              <a:t> / </a:t>
            </a:r>
            <a:r>
              <a:rPr sz="1500">
                <a:solidFill>
                  <a:srgbClr val="BE123C"/>
                </a:solidFill>
                <a:latin typeface="Consolas"/>
              </a:rPr>
              <a:t>--here</a:t>
            </a:r>
            <a:r>
              <a:rPr b="0" sz="1500">
                <a:solidFill>
                  <a:srgbClr val="0F172A"/>
                </a:solidFill>
              </a:rPr>
              <a:t>, </a:t>
            </a:r>
            <a:r>
              <a:rPr sz="1500">
                <a:solidFill>
                  <a:srgbClr val="BE123C"/>
                </a:solidFill>
                <a:latin typeface="Consolas"/>
              </a:rPr>
              <a:t>--force</a:t>
            </a:r>
            <a:r>
              <a:rPr b="0" sz="1500">
                <a:solidFill>
                  <a:srgbClr val="0F172A"/>
                </a:solidFill>
              </a:rPr>
              <a:t> to overwrite) scaffolds two roots. Requires </a:t>
            </a:r>
            <a:r>
              <a:rPr b="1" sz="1500">
                <a:solidFill>
                  <a:srgbClr val="0F172A"/>
                </a:solidFill>
              </a:rPr>
              <a:t>uv + Python 3.11+</a:t>
            </a:r>
            <a:r>
              <a:rPr b="0" sz="1500">
                <a:solidFill>
                  <a:srgbClr val="0F172A"/>
                </a:solidFill>
              </a:rPr>
              <a:t>; CLI via </a:t>
            </a:r>
            <a:r>
              <a:rPr sz="1500">
                <a:solidFill>
                  <a:srgbClr val="BE123C"/>
                </a:solidFill>
                <a:latin typeface="Consolas"/>
              </a:rPr>
              <a:t>uv tool install</a:t>
            </a:r>
            <a:r>
              <a:rPr b="0" sz="1500">
                <a:solidFill>
                  <a:srgbClr val="0F172A"/>
                </a:solidFill>
              </a:rPr>
              <a:t> or </a:t>
            </a:r>
            <a:r>
              <a:rPr sz="1500">
                <a:solidFill>
                  <a:srgbClr val="BE123C"/>
                </a:solidFill>
                <a:latin typeface="Consolas"/>
              </a:rPr>
              <a:t>uvx</a:t>
            </a:r>
            <a:r>
              <a:rPr b="0" sz="1500">
                <a:solidFill>
                  <a:srgbClr val="0F172A"/>
                </a:solidFill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74720"/>
            <a:ext cx="10911535" cy="237744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bIns="91440"/>
          <a:lstStyle/>
          <a:p>
            <a:pPr algn="ctr"/>
            <a:r>
              <a:rPr sz="1100">
                <a:solidFill>
                  <a:srgbClr val="E2E8F0"/>
                </a:solidFill>
                <a:latin typeface="Consolas"/>
              </a:rPr>
              <a:t>.specify/                      # the toolkit's brain (agent-agnostic)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memory/constitution.md       # project-wide MUST principles, read by every phase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templates/                   # spec/plan/tasks/checklist/constitution templates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  overrides/                 # highest-priority template layer (project-local)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scripts/bash/                # create-new-feature.sh, setup-plan.sh, ... (+ powershell/)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specs/                         # per-feature, human-readable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001-&lt;feature-slug&gt;/          # auto-numbered by create-new-feature.sh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  spec.md plan.md tasks.md research.md data-model.md quickstart.md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  contracts/                 # api-spec.json, ...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.claude/commands/              # per-agent command files installed at init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What it is + layout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371600"/>
            <a:ext cx="10820095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Template resolution (first match wins, used entirely):</a:t>
            </a:r>
            <a:r>
              <a:rPr b="0" sz="1500">
                <a:solidFill>
                  <a:srgbClr val="0F172A"/>
                </a:solidFill>
              </a:rPr>
              <a:t> overrides &gt; installed presets (by </a:t>
            </a:r>
            <a:r>
              <a:rPr sz="1500">
                <a:solidFill>
                  <a:srgbClr val="BE123C"/>
                </a:solidFill>
                <a:latin typeface="Consolas"/>
              </a:rPr>
              <a:t>priority</a:t>
            </a:r>
            <a:r>
              <a:rPr b="0" sz="1500">
                <a:solidFill>
                  <a:srgbClr val="0F172A"/>
                </a:solidFill>
              </a:rPr>
              <a:t>) &gt; extensions (by </a:t>
            </a:r>
            <a:r>
              <a:rPr sz="1500">
                <a:solidFill>
                  <a:srgbClr val="BE123C"/>
                </a:solidFill>
                <a:latin typeface="Consolas"/>
              </a:rPr>
              <a:t>priority</a:t>
            </a:r>
            <a:r>
              <a:rPr b="0" sz="1500">
                <a:solidFill>
                  <a:srgbClr val="0F172A"/>
                </a:solidFill>
              </a:rPr>
              <a:t>) &gt; Spec Kit core. The feature directory is the unit: </a:t>
            </a:r>
            <a:r>
              <a:rPr b="1" sz="1500">
                <a:solidFill>
                  <a:srgbClr val="0F172A"/>
                </a:solidFill>
              </a:rPr>
              <a:t>one feature = one numbered folder.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042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Source: github/spec-kit README; docs/reference/presets.md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Spec 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371600"/>
            <a:ext cx="10820095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Markdown, abstraction-enforced</a:t>
            </a:r>
            <a:r>
              <a:rPr b="0" sz="1500">
                <a:solidFill>
                  <a:srgbClr val="0F172A"/>
                </a:solidFill>
              </a:rPr>
              <a:t>: the spec phase forbids implementation detail — tech stack lives in </a:t>
            </a:r>
            <a:r>
              <a:rPr sz="1500">
                <a:solidFill>
                  <a:srgbClr val="BE123C"/>
                </a:solidFill>
                <a:latin typeface="Consolas"/>
              </a:rPr>
              <a:t>plan.md</a:t>
            </a:r>
            <a:r>
              <a:rPr b="0" sz="1500">
                <a:solidFill>
                  <a:srgbClr val="0F172A"/>
                </a:solidFill>
              </a:rPr>
              <a:t>; success criteria must be "technology-agnostic and measurable" (vague adjectives like fast/scalable/secure get flagged).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231136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Authored by the agent from a natural-language prompt, refined via dialogue. Three sections are </a:t>
            </a:r>
            <a:r>
              <a:rPr b="1" sz="1500">
                <a:solidFill>
                  <a:srgbClr val="0F172A"/>
                </a:solidFill>
              </a:rPr>
              <a:t>mandatory</a:t>
            </a:r>
            <a:r>
              <a:rPr b="0" sz="1500">
                <a:solidFill>
                  <a:srgbClr val="0F172A"/>
                </a:solidFill>
              </a:rPr>
              <a:t>: User Scenarios &amp; Testing, Requirements, Success Criteria.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9504"/>
            <a:ext cx="10911535" cy="1956816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bIns="91440"/>
          <a:lstStyle/>
          <a:p>
            <a:pPr algn="ctr"/>
            <a:r>
              <a:rPr sz="1100">
                <a:solidFill>
                  <a:srgbClr val="E2E8F0"/>
                </a:solidFill>
                <a:latin typeface="Consolas"/>
              </a:rPr>
              <a:t># spec-template.md (order)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User Scenarios &amp; Testing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User Story 1 - &lt;Title&gt; (Priority: P1)   # Why this priority / Independent Test / Acceptance Scenarios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Edge Cases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Requirements -&gt; Functional Requirements + Key Entities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Success Criteria -&gt; Measurable Outcomes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Assumptions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Review &amp; Acceptance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956048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Granularity:</a:t>
            </a:r>
            <a:r>
              <a:rPr b="0" sz="1500">
                <a:solidFill>
                  <a:srgbClr val="0F172A"/>
                </a:solidFill>
              </a:rPr>
              <a:t> feature-level, split into independently-testable, priority-ranked </a:t>
            </a:r>
            <a:r>
              <a:rPr b="1" sz="1500">
                <a:solidFill>
                  <a:srgbClr val="0F172A"/>
                </a:solidFill>
              </a:rPr>
              <a:t>P1/P2/P3</a:t>
            </a:r>
            <a:r>
              <a:rPr b="0" sz="1500">
                <a:solidFill>
                  <a:srgbClr val="0F172A"/>
                </a:solidFill>
              </a:rPr>
              <a:t> user stories — each a standalone, deployable MVP slice.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554126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Notation:</a:t>
            </a:r>
            <a:r>
              <a:rPr b="0" sz="1500">
                <a:solidFill>
                  <a:srgbClr val="0F172A"/>
                </a:solidFill>
              </a:rPr>
              <a:t> acceptance = </a:t>
            </a:r>
            <a:r>
              <a:rPr b="1" sz="1500">
                <a:solidFill>
                  <a:srgbClr val="0F172A"/>
                </a:solidFill>
              </a:rPr>
              <a:t>Given/When/Then</a:t>
            </a:r>
            <a:r>
              <a:rPr b="0" sz="1500">
                <a:solidFill>
                  <a:srgbClr val="0F172A"/>
                </a:solidFill>
              </a:rPr>
              <a:t> (not EARS). Ambiguity surfaced inline: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253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BE123C"/>
                </a:solidFill>
                <a:latin typeface="Consolas"/>
              </a:rPr>
              <a:t>System MUST authenticate users via [NEEDS CLARIFICATION: auth method not specified - email/password, SSO, OAuth?]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Spec format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371600"/>
            <a:ext cx="10820095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Philosophy: templates act as </a:t>
            </a:r>
            <a:r>
              <a:rPr b="1" sz="1500">
                <a:solidFill>
                  <a:srgbClr val="0F172A"/>
                </a:solidFill>
              </a:rPr>
              <a:t>sophisticated prompts</a:t>
            </a:r>
            <a:r>
              <a:rPr b="0" sz="1500">
                <a:solidFill>
                  <a:srgbClr val="0F172A"/>
                </a:solidFill>
              </a:rPr>
              <a:t> that constrain LLM output toward quality. Phases map to requirements (</a:t>
            </a:r>
            <a:r>
              <a:rPr sz="1500">
                <a:solidFill>
                  <a:srgbClr val="BE123C"/>
                </a:solidFill>
                <a:latin typeface="Consolas"/>
              </a:rPr>
              <a:t>spec.md</a:t>
            </a:r>
            <a:r>
              <a:rPr b="0" sz="1500">
                <a:solidFill>
                  <a:srgbClr val="0F172A"/>
                </a:solidFill>
              </a:rPr>
              <a:t>) / design (</a:t>
            </a:r>
            <a:r>
              <a:rPr sz="1500">
                <a:solidFill>
                  <a:srgbClr val="BE123C"/>
                </a:solidFill>
                <a:latin typeface="Consolas"/>
              </a:rPr>
              <a:t>plan.md</a:t>
            </a:r>
            <a:r>
              <a:rPr b="0" sz="1500">
                <a:solidFill>
                  <a:srgbClr val="0F172A"/>
                </a:solidFill>
              </a:rPr>
              <a:t> + </a:t>
            </a:r>
            <a:r>
              <a:rPr sz="1500">
                <a:solidFill>
                  <a:srgbClr val="BE123C"/>
                </a:solidFill>
                <a:latin typeface="Consolas"/>
              </a:rPr>
              <a:t>research.md</a:t>
            </a:r>
            <a:r>
              <a:rPr b="0" sz="1500">
                <a:solidFill>
                  <a:srgbClr val="0F172A"/>
                </a:solidFill>
              </a:rPr>
              <a:t> + </a:t>
            </a:r>
            <a:r>
              <a:rPr sz="1500">
                <a:solidFill>
                  <a:srgbClr val="BE123C"/>
                </a:solidFill>
                <a:latin typeface="Consolas"/>
              </a:rPr>
              <a:t>data-model.md</a:t>
            </a:r>
            <a:r>
              <a:rPr b="0" sz="1500">
                <a:solidFill>
                  <a:srgbClr val="0F172A"/>
                </a:solidFill>
              </a:rPr>
              <a:t> + </a:t>
            </a:r>
            <a:r>
              <a:rPr sz="1500">
                <a:solidFill>
                  <a:srgbClr val="BE123C"/>
                </a:solidFill>
                <a:latin typeface="Consolas"/>
              </a:rPr>
              <a:t>contracts/</a:t>
            </a:r>
            <a:r>
              <a:rPr b="0" sz="1500">
                <a:solidFill>
                  <a:srgbClr val="0F172A"/>
                </a:solidFill>
              </a:rPr>
              <a:t>) / tasks (</a:t>
            </a:r>
            <a:r>
              <a:rPr sz="1500">
                <a:solidFill>
                  <a:srgbClr val="BE123C"/>
                </a:solidFill>
                <a:latin typeface="Consolas"/>
              </a:rPr>
              <a:t>tasks.md</a:t>
            </a:r>
            <a:r>
              <a:rPr b="0" sz="1500">
                <a:solidFill>
                  <a:srgbClr val="0F172A"/>
                </a:solidFill>
              </a:rPr>
              <a:t>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042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Source: templates/spec-template.md; spec-driven.md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Reconciliation — the weakest, least-enforced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77437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64748B"/>
                </a:solidFill>
              </a:rPr>
              <a:t>No automated spec↔code drift </a:t>
            </a:r>
            <a:r>
              <a:rPr b="1" sz="1500">
                <a:solidFill>
                  <a:srgbClr val="64748B"/>
                </a:solidFill>
              </a:rPr>
              <a:t>gate</a:t>
            </a:r>
            <a:r>
              <a:rPr b="0" sz="1500">
                <a:solidFill>
                  <a:srgbClr val="64748B"/>
                </a:solidFill>
              </a:rPr>
              <a:t>, no CI check, no hook. The official docs site doesn't even cover ongoing sync. Three opt-in layers: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45720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139696"/>
          <a:ext cx="10911535" cy="1362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6"/>
              </a:tblGrid>
              <a:tr h="34061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Command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Reads code?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Writes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Detects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</a:tr>
              <a:tr h="34061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/speckit.analyze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No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(artifact-only)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None — "Do not modify any files"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dup, ambiguity, underspec, constitution, coverage gaps, inconsistency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4061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/speckit.converge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Yes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Append-only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## Phase N: Convergence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to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tasks.md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missing / partial /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contradicts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/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unrequested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4061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evolving-specs guide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manual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manual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n/a (3 competing models)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19" y="3639311"/>
            <a:ext cx="10820095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`/analyze`</a:t>
            </a:r>
            <a:r>
              <a:rPr b="0" sz="1500">
                <a:solidFill>
                  <a:srgbClr val="0F172A"/>
                </a:solidFill>
              </a:rPr>
              <a:t>: 6 sequential passes, a </a:t>
            </a:r>
            <a:r>
              <a:rPr b="1" sz="1500">
                <a:solidFill>
                  <a:srgbClr val="0F172A"/>
                </a:solidFill>
              </a:rPr>
              <a:t>requirements→tasks coverage matrix</a:t>
            </a:r>
            <a:r>
              <a:rPr b="0" sz="1500">
                <a:solidFill>
                  <a:srgbClr val="0F172A"/>
                </a:solidFill>
              </a:rPr>
              <a:t>, orphaned-task + terminology-drift detection, 4 severity tiers (CRITICAL/HIGH/MEDIUM/LOW; constitution MUST-violations = CRITICAL), findings capped at 50. Audits </a:t>
            </a:r>
            <a:r>
              <a:rPr sz="1500">
                <a:solidFill>
                  <a:srgbClr val="BE123C"/>
                </a:solidFill>
                <a:latin typeface="Consolas"/>
              </a:rPr>
              <a:t>spec↔plan↔tasks↔constitution</a:t>
            </a:r>
            <a:r>
              <a:rPr b="0" sz="1500">
                <a:solidFill>
                  <a:srgbClr val="0F172A"/>
                </a:solidFill>
              </a:rPr>
              <a:t> only — </a:t>
            </a:r>
            <a:r>
              <a:rPr b="1" sz="1500">
                <a:solidFill>
                  <a:srgbClr val="0F172A"/>
                </a:solidFill>
              </a:rPr>
              <a:t>never the code</a:t>
            </a:r>
            <a:r>
              <a:rPr b="0" sz="1500">
                <a:solidFill>
                  <a:srgbClr val="0F172A"/>
                </a:solidFill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498848"/>
            <a:ext cx="10820095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`/converge`</a:t>
            </a:r>
            <a:r>
              <a:rPr b="0" sz="1500">
                <a:solidFill>
                  <a:srgbClr val="0F172A"/>
                </a:solidFill>
              </a:rPr>
              <a:t> does read the codebase (builds a code-scope map from file paths in plan/tasks) and flags drift (</a:t>
            </a:r>
            <a:r>
              <a:rPr sz="1500">
                <a:solidFill>
                  <a:srgbClr val="BE123C"/>
                </a:solidFill>
                <a:latin typeface="Consolas"/>
              </a:rPr>
              <a:t>contradicts</a:t>
            </a:r>
            <a:r>
              <a:rPr b="0" sz="1500">
                <a:solidFill>
                  <a:srgbClr val="0F172A"/>
                </a:solidFill>
              </a:rPr>
              <a:t>) and code-ahead-of-spec (</a:t>
            </a:r>
            <a:r>
              <a:rPr sz="1500">
                <a:solidFill>
                  <a:srgbClr val="BE123C"/>
                </a:solidFill>
                <a:latin typeface="Consolas"/>
              </a:rPr>
              <a:t>unrequested</a:t>
            </a:r>
            <a:r>
              <a:rPr b="0" sz="1500">
                <a:solidFill>
                  <a:srgbClr val="0F172A"/>
                </a:solidFill>
              </a:rPr>
              <a:t>) — but its </a:t>
            </a:r>
            <a:r>
              <a:rPr b="1" sz="1500">
                <a:solidFill>
                  <a:srgbClr val="0F172A"/>
                </a:solidFill>
              </a:rPr>
              <a:t>only write is appending tasks</a:t>
            </a:r>
            <a:r>
              <a:rPr b="0" sz="1500">
                <a:solidFill>
                  <a:srgbClr val="0F172A"/>
                </a:solidFill>
              </a:rPr>
              <a:t>: an </a:t>
            </a:r>
            <a:r>
              <a:rPr sz="1500">
                <a:solidFill>
                  <a:srgbClr val="BE123C"/>
                </a:solidFill>
                <a:latin typeface="Consolas"/>
              </a:rPr>
              <a:t>unrequested</a:t>
            </a:r>
            <a:r>
              <a:rPr b="0" sz="1500">
                <a:solidFill>
                  <a:srgbClr val="0F172A"/>
                </a:solidFill>
              </a:rPr>
              <a:t> finding becomes a "review/justify or remove" task, never a deletion or a spec rewrite.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5358383"/>
            <a:ext cx="10820095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Evolving-specs</a:t>
            </a:r>
            <a:r>
              <a:rPr b="0" sz="1500">
                <a:solidFill>
                  <a:srgbClr val="0F172A"/>
                </a:solidFill>
              </a:rPr>
              <a:t> offers 3 manual models with no enforced default: </a:t>
            </a:r>
            <a:r>
              <a:rPr b="1" sz="1500">
                <a:solidFill>
                  <a:srgbClr val="0F172A"/>
                </a:solidFill>
              </a:rPr>
              <a:t>Flow-Forward</a:t>
            </a:r>
            <a:r>
              <a:rPr b="0" sz="1500">
                <a:solidFill>
                  <a:srgbClr val="0F172A"/>
                </a:solidFill>
              </a:rPr>
              <a:t> (new numbered dir per iteration, historical record), </a:t>
            </a:r>
            <a:r>
              <a:rPr b="1" sz="1500">
                <a:solidFill>
                  <a:srgbClr val="0F172A"/>
                </a:solidFill>
              </a:rPr>
              <a:t>Living Spec</a:t>
            </a:r>
            <a:r>
              <a:rPr b="0" sz="1500">
                <a:solidFill>
                  <a:srgbClr val="0F172A"/>
                </a:solidFill>
              </a:rPr>
              <a:t> (spec is the contract → regenerate downstream → re-run analyze), </a:t>
            </a:r>
            <a:r>
              <a:rPr b="1" sz="1500">
                <a:solidFill>
                  <a:srgbClr val="0F172A"/>
                </a:solidFill>
              </a:rPr>
              <a:t>Flow-Back</a:t>
            </a:r>
            <a:r>
              <a:rPr b="0" sz="1500">
                <a:solidFill>
                  <a:srgbClr val="0F172A"/>
                </a:solidFill>
              </a:rPr>
              <a:t> (let implementation reshape artifacts).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Reconciliation — the weakest, least-enforced part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37160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Bottom line:</a:t>
            </a:r>
            <a:r>
              <a:rPr b="0" sz="1500">
                <a:solidFill>
                  <a:srgbClr val="0F172A"/>
                </a:solidFill>
              </a:rPr>
              <a:t> spec is doctrinally the source of truth, drift is detected, but everything is opt-in commands a human must remember to run; the only code-vs-spec write is appending a to-do.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2996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Source: templates/commands/analyze.md, converge.md; docs/guides/evolving-specs.md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Workflow + steal /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End-to-end (all </a:t>
            </a:r>
            <a:r>
              <a:rPr sz="1500">
                <a:solidFill>
                  <a:srgbClr val="BE123C"/>
                </a:solidFill>
                <a:latin typeface="Consolas"/>
              </a:rPr>
              <a:t>/speckit.*</a:t>
            </a:r>
            <a:r>
              <a:rPr b="0" sz="1500">
                <a:solidFill>
                  <a:srgbClr val="0F172A"/>
                </a:solidFill>
              </a:rPr>
              <a:t> slash commands):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847088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sz="1500">
                <a:solidFill>
                  <a:srgbClr val="BE123C"/>
                </a:solidFill>
                <a:latin typeface="Consolas"/>
              </a:rPr>
              <a:t>specify init &lt;name&gt; --integration &lt;agent&gt;</a:t>
            </a:r>
            <a:r>
              <a:rPr b="0" sz="1500">
                <a:solidFill>
                  <a:srgbClr val="0F172A"/>
                </a:solidFill>
              </a:rPr>
              <a:t> — scaffold </a:t>
            </a:r>
            <a:r>
              <a:rPr sz="1500">
                <a:solidFill>
                  <a:srgbClr val="BE123C"/>
                </a:solidFill>
                <a:latin typeface="Consolas"/>
              </a:rPr>
              <a:t>.specify/</a:t>
            </a:r>
            <a:r>
              <a:rPr b="0" sz="1500">
                <a:solidFill>
                  <a:srgbClr val="0F172A"/>
                </a:solidFill>
              </a:rPr>
              <a:t> + agent commands (non-interactive default: Copilot)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43230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sz="1500">
                <a:solidFill>
                  <a:srgbClr val="BE123C"/>
                </a:solidFill>
                <a:latin typeface="Consolas"/>
              </a:rPr>
              <a:t>/speckit.constitution</a:t>
            </a:r>
            <a:r>
              <a:rPr b="0" sz="1500">
                <a:solidFill>
                  <a:srgbClr val="0F172A"/>
                </a:solidFill>
              </a:rPr>
              <a:t> — author/refresh </a:t>
            </a:r>
            <a:r>
              <a:rPr sz="1500">
                <a:solidFill>
                  <a:srgbClr val="BE123C"/>
                </a:solidFill>
                <a:latin typeface="Consolas"/>
              </a:rPr>
              <a:t>.specify/memory/constitution.md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74320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sz="1500">
                <a:solidFill>
                  <a:srgbClr val="BE123C"/>
                </a:solidFill>
                <a:latin typeface="Consolas"/>
              </a:rPr>
              <a:t>/speckit.specify "&lt;what/why&gt;"</a:t>
            </a:r>
            <a:r>
              <a:rPr b="0" sz="1500">
                <a:solidFill>
                  <a:srgbClr val="0F172A"/>
                </a:solidFill>
              </a:rPr>
              <a:t> → makes </a:t>
            </a:r>
            <a:r>
              <a:rPr sz="1500">
                <a:solidFill>
                  <a:srgbClr val="BE123C"/>
                </a:solidFill>
                <a:latin typeface="Consolas"/>
              </a:rPr>
              <a:t>specs/00N-slug/spec.md</a:t>
            </a:r>
            <a:r>
              <a:rPr b="0" sz="1500">
                <a:solidFill>
                  <a:srgbClr val="0F172A"/>
                </a:solidFill>
              </a:rPr>
              <a:t> (no tech)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054096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sz="1500">
                <a:solidFill>
                  <a:srgbClr val="BE123C"/>
                </a:solidFill>
                <a:latin typeface="Consolas"/>
              </a:rPr>
              <a:t>/speckit.clarify</a:t>
            </a:r>
            <a:r>
              <a:rPr b="0" sz="1500">
                <a:solidFill>
                  <a:srgbClr val="0F172A"/>
                </a:solidFill>
              </a:rPr>
              <a:t> (recommended) — resolve </a:t>
            </a:r>
            <a:r>
              <a:rPr sz="1500">
                <a:solidFill>
                  <a:srgbClr val="BE123C"/>
                </a:solidFill>
                <a:latin typeface="Consolas"/>
              </a:rPr>
              <a:t>[NEEDS CLARIFICATION]</a:t>
            </a:r>
            <a:r>
              <a:rPr b="0" sz="1500">
                <a:solidFill>
                  <a:srgbClr val="0F172A"/>
                </a:solidFill>
              </a:rPr>
              <a:t> pre-plan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3364991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sz="1500">
                <a:solidFill>
                  <a:srgbClr val="BE123C"/>
                </a:solidFill>
                <a:latin typeface="Consolas"/>
              </a:rPr>
              <a:t>/speckit.plan "&lt;tech&gt;"</a:t>
            </a:r>
            <a:r>
              <a:rPr b="0" sz="1500">
                <a:solidFill>
                  <a:srgbClr val="0F172A"/>
                </a:solidFill>
              </a:rPr>
              <a:t> → </a:t>
            </a:r>
            <a:r>
              <a:rPr sz="1500">
                <a:solidFill>
                  <a:srgbClr val="BE123C"/>
                </a:solidFill>
                <a:latin typeface="Consolas"/>
              </a:rPr>
              <a:t>plan.md</a:t>
            </a:r>
            <a:r>
              <a:rPr b="0" sz="1500">
                <a:solidFill>
                  <a:srgbClr val="0F172A"/>
                </a:solidFill>
              </a:rPr>
              <a:t> (+ research/data-model/contracts/quickstart)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3675887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sz="1500">
                <a:solidFill>
                  <a:srgbClr val="BE123C"/>
                </a:solidFill>
                <a:latin typeface="Consolas"/>
              </a:rPr>
              <a:t>/speckit.tasks</a:t>
            </a:r>
            <a:r>
              <a:rPr b="0" sz="1500">
                <a:solidFill>
                  <a:srgbClr val="0F172A"/>
                </a:solidFill>
              </a:rPr>
              <a:t> → </a:t>
            </a:r>
            <a:r>
              <a:rPr sz="1500">
                <a:solidFill>
                  <a:srgbClr val="BE123C"/>
                </a:solidFill>
                <a:latin typeface="Consolas"/>
              </a:rPr>
              <a:t>tasks.md</a:t>
            </a:r>
            <a:r>
              <a:rPr b="0" sz="1500">
                <a:solidFill>
                  <a:srgbClr val="0F172A"/>
                </a:solidFill>
              </a:rPr>
              <a:t>, </a:t>
            </a:r>
            <a:r>
              <a:rPr sz="1500">
                <a:solidFill>
                  <a:srgbClr val="BE123C"/>
                </a:solidFill>
                <a:latin typeface="Consolas"/>
              </a:rPr>
              <a:t>[P]</a:t>
            </a:r>
            <a:r>
              <a:rPr b="0" sz="1500">
                <a:solidFill>
                  <a:srgbClr val="0F172A"/>
                </a:solidFill>
              </a:rPr>
              <a:t> parallel markers, dependency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3986783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sz="1500">
                <a:solidFill>
                  <a:srgbClr val="BE123C"/>
                </a:solidFill>
                <a:latin typeface="Consolas"/>
              </a:rPr>
              <a:t>/speckit.analyze</a:t>
            </a:r>
            <a:r>
              <a:rPr b="0" sz="1500">
                <a:solidFill>
                  <a:srgbClr val="0F172A"/>
                </a:solidFill>
              </a:rPr>
              <a:t> (optional gate) · </a:t>
            </a:r>
            <a:r>
              <a:rPr sz="1500">
                <a:solidFill>
                  <a:srgbClr val="BE123C"/>
                </a:solidFill>
                <a:latin typeface="Consolas"/>
              </a:rPr>
              <a:t>/speckit.checklist</a:t>
            </a:r>
            <a:r>
              <a:rPr b="0" sz="1500">
                <a:solidFill>
                  <a:srgbClr val="0F172A"/>
                </a:solidFill>
              </a:rPr>
              <a:t> (optional)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4297679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sz="1500">
                <a:solidFill>
                  <a:srgbClr val="BE123C"/>
                </a:solidFill>
                <a:latin typeface="Consolas"/>
              </a:rPr>
              <a:t>/speckit.implement</a:t>
            </a:r>
            <a:r>
              <a:rPr b="0" sz="1500">
                <a:solidFill>
                  <a:srgbClr val="0F172A"/>
                </a:solidFill>
              </a:rPr>
              <a:t> — parse tasks, run in dependency order · </a:t>
            </a:r>
            <a:r>
              <a:rPr sz="1500">
                <a:solidFill>
                  <a:srgbClr val="BE123C"/>
                </a:solidFill>
                <a:latin typeface="Consolas"/>
              </a:rPr>
              <a:t>/speckit.taskstoissues</a:t>
            </a:r>
            <a:r>
              <a:rPr b="0" sz="1500">
                <a:solidFill>
                  <a:srgbClr val="0F172A"/>
                </a:solidFill>
              </a:rPr>
              <a:t> (optional)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" y="4608575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sz="1500">
                <a:solidFill>
                  <a:srgbClr val="BE123C"/>
                </a:solidFill>
                <a:latin typeface="Consolas"/>
              </a:rPr>
              <a:t>/speckit.converge</a:t>
            </a:r>
            <a:r>
              <a:rPr b="0" sz="1500">
                <a:solidFill>
                  <a:srgbClr val="0F172A"/>
                </a:solidFill>
              </a:rPr>
              <a:t> (maintenance) — append a Convergence phase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92623"/>
            <a:ext cx="10911535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Also: a YAML workflow engine (command/prompt/shell/gate/if/switch/while/fan-out…) chains steps with human checkpoints; state persists for resume.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Workflow + steal / avoid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11535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8"/>
              </a:tblGrid>
              <a:tr h="33680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Steal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Avoid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/analyze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's deterministic, rerunnable 6-pass audit + coverage matrix + 4 severity tiers —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but extend to compare spec vs real CODE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The reconciliation gap: artifact-only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/analyze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+ append-only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/converge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, no CI/hook — make drift a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mechanical gate that can fail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constitution.md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as a persistent home for non-negotiable MUST rules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Append-only convergence as the answer to drift — actually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re-project the spec from code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converge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's 4-way gap vocab: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missing / partial / contradicts / unrequested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3 competing evolving-spec models with no default — pick one ritual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[NEEDS CLARIFICATION:]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markers + a dedicated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/clarify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phase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Treating Given/When/Then prose as "testing" —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/implement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has no boot-and-verify gate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P1/P2/P3 independently-testable MVP slices; abstraction enforcement (tech out of spec)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Heavy Python/uv + bash/PowerShell toolchain if work can live in-agent;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init --here --force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clobbering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constitution.md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529584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Source: github/spec-kit README; docs/reference/workflows.md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4000">
                <a:solidFill>
                  <a:srgbClr val="FFFFFF"/>
                </a:solidFill>
              </a:rPr>
              <a:t>AWS Kiro</a:t>
            </a:r>
          </a:p>
          <a:p>
            <a:pPr>
              <a:spcAft>
                <a:spcPts val="600"/>
              </a:spcAft>
            </a:pPr>
            <a:r>
              <a:rPr b="0" sz="2200">
                <a:solidFill>
                  <a:srgbClr val="E9D5FF"/>
                </a:solidFill>
              </a:rPr>
              <a:t>The spec-driven agentic IDE — </a:t>
            </a:r>
            <a:r>
              <a:rPr sz="2200">
                <a:solidFill>
                  <a:srgbClr val="BE123C"/>
                </a:solidFill>
                <a:latin typeface="Consolas"/>
              </a:rPr>
              <a:t>.kiro/specs/&lt;feature&gt;/</a:t>
            </a:r>
            <a:r>
              <a:rPr b="0" sz="2200">
                <a:solidFill>
                  <a:srgbClr val="E9D5FF"/>
                </a:solidFill>
              </a:rPr>
              <a:t> as the unit of work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What it is + the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37160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AWS agentic IDE</a:t>
            </a:r>
            <a:r>
              <a:rPr b="0" sz="1500">
                <a:solidFill>
                  <a:srgbClr val="0F172A"/>
                </a:solidFill>
              </a:rPr>
              <a:t> built on Code OSS / VS Code; also ships a </a:t>
            </a:r>
            <a:r>
              <a:rPr b="1" sz="1500">
                <a:solidFill>
                  <a:srgbClr val="0F172A"/>
                </a:solidFill>
              </a:rPr>
              <a:t>Kiro CLI</a:t>
            </a:r>
            <a:r>
              <a:rPr b="0" sz="1500">
                <a:solidFill>
                  <a:srgbClr val="0F172A"/>
                </a:solidFill>
              </a:rPr>
              <a:t> that speaks the open Agent Client Protocol (ACP).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956816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Unit of work = a spec folder</a:t>
            </a:r>
            <a:r>
              <a:rPr b="0" sz="1500">
                <a:solidFill>
                  <a:srgbClr val="0F172A"/>
                </a:solidFill>
              </a:rPr>
              <a:t>, not a chat. Each feature gets a committed </a:t>
            </a:r>
            <a:r>
              <a:rPr sz="1500">
                <a:solidFill>
                  <a:srgbClr val="BE123C"/>
                </a:solidFill>
                <a:latin typeface="Consolas"/>
              </a:rPr>
              <a:t>.kiro/specs/&lt;feature&gt;/</a:t>
            </a:r>
            <a:r>
              <a:rPr b="0" sz="1500">
                <a:solidFill>
                  <a:srgbClr val="0F172A"/>
                </a:solidFill>
              </a:rPr>
              <a:t> directory; project context lives in </a:t>
            </a:r>
            <a:r>
              <a:rPr sz="1500">
                <a:solidFill>
                  <a:srgbClr val="BE123C"/>
                </a:solidFill>
                <a:latin typeface="Consolas"/>
              </a:rPr>
              <a:t>.kiro/steering/</a:t>
            </a:r>
            <a:r>
              <a:rPr b="0" sz="1500">
                <a:solidFill>
                  <a:srgbClr val="0F172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Everything is </a:t>
            </a:r>
            <a:r>
              <a:rPr b="1" sz="1500">
                <a:solidFill>
                  <a:srgbClr val="0F172A"/>
                </a:solidFill>
              </a:rPr>
              <a:t>plain markdown, committed to git</a:t>
            </a:r>
            <a:r>
              <a:rPr b="0" sz="1500">
                <a:solidFill>
                  <a:srgbClr val="0F172A"/>
                </a:solidFill>
              </a:rPr>
              <a:t>, so it travels with the repo.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26080"/>
            <a:ext cx="10911535" cy="258775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bIns="91440"/>
          <a:lstStyle/>
          <a:p>
            <a:pPr algn="ctr"/>
            <a:r>
              <a:rPr sz="1100">
                <a:solidFill>
                  <a:srgbClr val="E2E8F0"/>
                </a:solidFill>
                <a:latin typeface="Consolas"/>
              </a:rPr>
              <a:t>.kiro/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steering/                 # persistent context, injected into interactions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  product.md              # purpose, users, key features, objectives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  tech.md                 # frameworks, libraries, constraints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  structure.md            # file org, naming, import &amp; arch patterns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  api-standards.md        # custom steering (e.g. testing-standards.md)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specs/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  &lt;feature-name&gt;/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    requirements.md       # user stories + EARS criteria (or bugfix.md)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    design.md             # architecture, mermaid, interfaces, schemas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    tasks.md              # numbered, dependency-linked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56235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Workspace scope </a:t>
            </a:r>
            <a:r>
              <a:rPr sz="1500">
                <a:solidFill>
                  <a:srgbClr val="BE123C"/>
                </a:solidFill>
                <a:latin typeface="Consolas"/>
              </a:rPr>
              <a:t>.kiro/</a:t>
            </a:r>
            <a:r>
              <a:rPr b="0" sz="1500">
                <a:solidFill>
                  <a:srgbClr val="0F172A"/>
                </a:solidFill>
              </a:rPr>
              <a:t> at repo root; global scope </a:t>
            </a:r>
            <a:r>
              <a:rPr sz="1500">
                <a:solidFill>
                  <a:srgbClr val="BE123C"/>
                </a:solidFill>
                <a:latin typeface="Consolas"/>
              </a:rPr>
              <a:t>~/.kiro/</a:t>
            </a:r>
            <a:r>
              <a:rPr b="0" sz="1500">
                <a:solidFill>
                  <a:srgbClr val="0F172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What it is + the layout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37160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Source: kiro.dev/docs/steering, /docs/getting-started/first-project (".kiro folder containing specs and steering files")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The spec format: requirements → design → tasks (+ EARS)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Three artifacts, each a distinct </a:t>
            </a:r>
            <a:r>
              <a:rPr b="1" sz="1500">
                <a:solidFill>
                  <a:srgbClr val="0F172A"/>
                </a:solidFill>
              </a:rPr>
              <a:t>approval-gated phase</a:t>
            </a:r>
            <a:r>
              <a:rPr b="0" sz="1500">
                <a:solidFill>
                  <a:srgbClr val="0F172A"/>
                </a:solidFill>
              </a:rPr>
              <a:t>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47088"/>
          <a:ext cx="10911535" cy="1362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4061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File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Content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Grammar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</a:tr>
              <a:tr h="34061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requirements.md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User stories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As a &lt;role&gt;, I want &lt;x&gt;, so that &lt;y&gt;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+ acceptance criteria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EARS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4061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design.md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Architecture, mermaid/sequence diagrams, component interfaces, data models, API endpoints, error handling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—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40614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tasks.md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Numbered, dependency-linked checklist; each task links to related requirements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checkbox markers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346704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EARS</a:t>
            </a:r>
            <a:r>
              <a:rPr b="0" sz="1500">
                <a:solidFill>
                  <a:srgbClr val="0F172A"/>
                </a:solidFill>
              </a:rPr>
              <a:t> (Easy Approach to Requirements Syntax) — Kiro documents the primary template prominently: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22191"/>
            <a:ext cx="10911535" cy="4846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bIns="91440"/>
          <a:lstStyle/>
          <a:p>
            <a:pPr algn="ctr"/>
            <a:r>
              <a:rPr sz="1100">
                <a:solidFill>
                  <a:srgbClr val="E2E8F0"/>
                </a:solidFill>
                <a:latin typeface="Consolas"/>
              </a:rPr>
              <a:t>WHEN &lt;condition/event&gt; THE SYSTEM SHALL &lt;expected behavior&gt;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416552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Fuller EARS standard (Ubiquitous SHALL · Event WHEN · State WHILE · Optional WHERE · Unwanted IF…THEN) is </a:t>
            </a:r>
            <a:r>
              <a:rPr b="1" sz="1500">
                <a:solidFill>
                  <a:srgbClr val="0F172A"/>
                </a:solidFill>
              </a:rPr>
              <a:t>EARS-standard context</a:t>
            </a:r>
            <a:r>
              <a:rPr b="0" sz="1500">
                <a:solidFill>
                  <a:srgbClr val="0F172A"/>
                </a:solidFill>
              </a:rPr>
              <a:t>, not enumerated in Kiro's own docs.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5001768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Task markers: </a:t>
            </a:r>
            <a:r>
              <a:rPr sz="1500">
                <a:solidFill>
                  <a:srgbClr val="BE123C"/>
                </a:solidFill>
                <a:latin typeface="Consolas"/>
              </a:rPr>
              <a:t>- [ ]</a:t>
            </a:r>
            <a:r>
              <a:rPr b="0" sz="1500">
                <a:solidFill>
                  <a:srgbClr val="0F172A"/>
                </a:solidFill>
              </a:rPr>
              <a:t> not started · </a:t>
            </a:r>
            <a:r>
              <a:rPr sz="1500">
                <a:solidFill>
                  <a:srgbClr val="BE123C"/>
                </a:solidFill>
                <a:latin typeface="Consolas"/>
              </a:rPr>
              <a:t>- [-]</a:t>
            </a:r>
            <a:r>
              <a:rPr b="0" sz="1500">
                <a:solidFill>
                  <a:srgbClr val="0F172A"/>
                </a:solidFill>
              </a:rPr>
              <a:t> in progress · </a:t>
            </a:r>
            <a:r>
              <a:rPr sz="1500">
                <a:solidFill>
                  <a:srgbClr val="BE123C"/>
                </a:solidFill>
                <a:latin typeface="Consolas"/>
              </a:rPr>
              <a:t>- [x]</a:t>
            </a:r>
            <a:r>
              <a:rPr b="0" sz="1500">
                <a:solidFill>
                  <a:srgbClr val="0F172A"/>
                </a:solidFill>
              </a:rPr>
              <a:t> complete. Bugfixes use </a:t>
            </a:r>
            <a:r>
              <a:rPr sz="1500">
                <a:solidFill>
                  <a:srgbClr val="BE123C"/>
                </a:solidFill>
                <a:latin typeface="Consolas"/>
              </a:rPr>
              <a:t>bugfix.md</a:t>
            </a:r>
            <a:r>
              <a:rPr b="0" sz="1500">
                <a:solidFill>
                  <a:srgbClr val="0F172A"/>
                </a:solidFill>
              </a:rPr>
              <a:t> (current vs. expected behavior) instead of user stories.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5586983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Source: kiro.dev/docs/specs, /docs/specs/feature-specs, /blog/introducing-kiro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Reconciliation: first-class, but advisory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Spec and code are kept in sync </a:t>
            </a:r>
            <a:r>
              <a:rPr b="1" sz="1500">
                <a:solidFill>
                  <a:srgbClr val="0F172A"/>
                </a:solidFill>
              </a:rPr>
              <a:t>on demand</a:t>
            </a:r>
            <a:r>
              <a:rPr b="0" sz="1500">
                <a:solidFill>
                  <a:srgbClr val="0F172A"/>
                </a:solidFill>
              </a:rPr>
              <a:t>, framed as "living documentation" — there is </a:t>
            </a:r>
            <a:r>
              <a:rPr b="1" sz="1500">
                <a:solidFill>
                  <a:srgbClr val="0F172A"/>
                </a:solidFill>
              </a:rPr>
              <a:t>no continuous drift detector and no CI gate</a:t>
            </a:r>
            <a:r>
              <a:rPr b="0" sz="1500">
                <a:solidFill>
                  <a:srgbClr val="0F172A"/>
                </a:solidFill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084831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Sync Files</a:t>
            </a:r>
            <a:r>
              <a:rPr b="0" sz="1500">
                <a:solidFill>
                  <a:srgbClr val="0F172A"/>
                </a:solidFill>
              </a:rPr>
              <a:t> (in </a:t>
            </a:r>
            <a:r>
              <a:rPr sz="1500">
                <a:solidFill>
                  <a:srgbClr val="BE123C"/>
                </a:solidFill>
                <a:latin typeface="Consolas"/>
              </a:rPr>
              <a:t>tasks.md</a:t>
            </a:r>
            <a:r>
              <a:rPr b="0" sz="1500">
                <a:solidFill>
                  <a:srgbClr val="0F172A"/>
                </a:solidFill>
              </a:rPr>
              <a:t>): Kiro "automatically marks completed tasks" against the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395727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Conversational reconcile</a:t>
            </a:r>
            <a:r>
              <a:rPr b="0" sz="1500">
                <a:solidFill>
                  <a:srgbClr val="0F172A"/>
                </a:solidFill>
              </a:rPr>
              <a:t>: ask "Check which tasks are already complete" → Kiro analyzes the codebase and identifies implemented functionality.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980944"/>
            <a:ext cx="10820095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Iterative refinement</a:t>
            </a:r>
            <a:r>
              <a:rPr b="0" sz="1500">
                <a:solidFill>
                  <a:srgbClr val="0F172A"/>
                </a:solidFill>
              </a:rPr>
              <a:t>: update requirements → refine design → re-sync to "create new tasks that map to the new requirements". Design-First and code-first variants derive artifacts from existing design/code.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840479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Analyze Requirements</a:t>
            </a:r>
            <a:r>
              <a:rPr b="0" sz="1500">
                <a:solidFill>
                  <a:srgbClr val="0F172A"/>
                </a:solidFill>
              </a:rPr>
              <a:t>: authoring-time check surfacing "logical inconsistencies, ambiguities, conflicting constraints, and gaps" before design.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98847"/>
            <a:ext cx="1077437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64748B"/>
                </a:solidFill>
              </a:rPr>
              <a:t>Net: bidirectional and human-triggered — a strong primitive, but </a:t>
            </a:r>
            <a:r>
              <a:rPr b="1" sz="1500">
                <a:solidFill>
                  <a:srgbClr val="64748B"/>
                </a:solidFill>
              </a:rPr>
              <a:t>advisory only</a:t>
            </a:r>
            <a:r>
              <a:rPr b="0" sz="1500">
                <a:solidFill>
                  <a:srgbClr val="64748B"/>
                </a:solidFill>
              </a:rPr>
              <a:t>. Specs can silently rot if no one clicks Sync. (Steering-as-code-review governance is NOT stated by Kiro's current docs.)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498847"/>
            <a:ext cx="45720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" y="5266943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Source: kiro.dev/docs/specs/best-practices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Workflow + steal /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End-to-end:</a:t>
            </a:r>
            <a:r>
              <a:rPr b="0" sz="1500">
                <a:solidFill>
                  <a:srgbClr val="0F172A"/>
                </a:solidFill>
              </a:rPr>
              <a:t> open project (IDE or </a:t>
            </a:r>
            <a:r>
              <a:rPr sz="1500">
                <a:solidFill>
                  <a:srgbClr val="BE123C"/>
                </a:solidFill>
                <a:latin typeface="Consolas"/>
              </a:rPr>
              <a:t>kiro-cli acp</a:t>
            </a:r>
            <a:r>
              <a:rPr b="0" sz="1500">
                <a:solidFill>
                  <a:srgbClr val="0F172A"/>
                </a:solidFill>
              </a:rPr>
              <a:t>) → </a:t>
            </a:r>
            <a:r>
              <a:rPr b="1" sz="1500">
                <a:solidFill>
                  <a:srgbClr val="0F172A"/>
                </a:solidFill>
              </a:rPr>
              <a:t>Generate Steering Docs</a:t>
            </a:r>
            <a:r>
              <a:rPr b="0" sz="1500">
                <a:solidFill>
                  <a:srgbClr val="0F172A"/>
                </a:solidFill>
              </a:rPr>
              <a:t> → create spec from plain-English prompt ("Add a user authentication system with login, logout, password reset") → pick a variant: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084831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Requirements-First</a:t>
            </a:r>
            <a:r>
              <a:rPr b="0" sz="1500">
                <a:solidFill>
                  <a:srgbClr val="0F172A"/>
                </a:solidFill>
              </a:rPr>
              <a:t> (default) · </a:t>
            </a:r>
            <a:r>
              <a:rPr b="1" sz="1500">
                <a:solidFill>
                  <a:srgbClr val="0F172A"/>
                </a:solidFill>
              </a:rPr>
              <a:t>Design-First</a:t>
            </a:r>
            <a:r>
              <a:rPr b="0" sz="1500">
                <a:solidFill>
                  <a:srgbClr val="0F172A"/>
                </a:solidFill>
              </a:rPr>
              <a:t> · </a:t>
            </a:r>
            <a:r>
              <a:rPr b="1" sz="1500">
                <a:solidFill>
                  <a:srgbClr val="0F172A"/>
                </a:solidFill>
              </a:rPr>
              <a:t>Quick Plan</a:t>
            </a:r>
            <a:r>
              <a:rPr b="0" sz="1500">
                <a:solidFill>
                  <a:srgbClr val="0F172A"/>
                </a:solidFill>
              </a:rPr>
              <a:t> (all phases, </a:t>
            </a:r>
            <a:r>
              <a:rPr b="1" sz="1500">
                <a:solidFill>
                  <a:srgbClr val="0F172A"/>
                </a:solidFill>
              </a:rPr>
              <a:t>no approval gates</a:t>
            </a:r>
            <a:r>
              <a:rPr b="0" sz="1500">
                <a:solidFill>
                  <a:srgbClr val="0F172A"/>
                </a:solidFill>
              </a:rPr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79"/>
            <a:ext cx="10911535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Then </a:t>
            </a:r>
            <a:r>
              <a:rPr b="1" sz="1500">
                <a:solidFill>
                  <a:srgbClr val="0F172A"/>
                </a:solidFill>
              </a:rPr>
              <a:t>Requirements → Design → Tasks</a:t>
            </a:r>
            <a:r>
              <a:rPr b="0" sz="1500">
                <a:solidFill>
                  <a:srgbClr val="0F172A"/>
                </a:solidFill>
              </a:rPr>
              <a:t> (each review + approve) → </a:t>
            </a:r>
            <a:r>
              <a:rPr b="1" sz="1500">
                <a:solidFill>
                  <a:srgbClr val="0F172A"/>
                </a:solidFill>
              </a:rPr>
              <a:t>Execute</a:t>
            </a:r>
            <a:r>
              <a:rPr b="0" sz="1500">
                <a:solidFill>
                  <a:srgbClr val="0F172A"/>
                </a:solidFill>
              </a:rPr>
              <a:t>: Kiro builds a dependency graph and runs in </a:t>
            </a:r>
            <a:r>
              <a:rPr b="1" sz="1500">
                <a:solidFill>
                  <a:srgbClr val="0F172A"/>
                </a:solidFill>
              </a:rPr>
              <a:t>waves</a:t>
            </a:r>
            <a:r>
              <a:rPr b="0" sz="1500">
                <a:solidFill>
                  <a:srgbClr val="0F172A"/>
                </a:solidFill>
              </a:rPr>
              <a:t> ("Waves execute sequentially; tasks within a wave execute concurrently"). </a:t>
            </a:r>
            <a:r>
              <a:rPr b="1" sz="1500">
                <a:solidFill>
                  <a:srgbClr val="0F172A"/>
                </a:solidFill>
              </a:rPr>
              <a:t>Agent Hooks</a:t>
            </a:r>
            <a:r>
              <a:rPr b="0" sz="1500">
                <a:solidFill>
                  <a:srgbClr val="0F172A"/>
                </a:solidFill>
              </a:rPr>
              <a:t> automate side effects (save → update tests; pre-commit → scan creds); </a:t>
            </a:r>
            <a:r>
              <a:rPr b="1" sz="1500">
                <a:solidFill>
                  <a:srgbClr val="0F172A"/>
                </a:solidFill>
              </a:rPr>
              <a:t>MCP</a:t>
            </a:r>
            <a:r>
              <a:rPr b="0" sz="1500">
                <a:solidFill>
                  <a:srgbClr val="0F172A"/>
                </a:solidFill>
              </a:rPr>
              <a:t> adds tools.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3456432"/>
          <a:ext cx="10911535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8"/>
              </a:tblGrid>
              <a:tr h="33680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Steal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Avoid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3-phase artifact split as separate committed files per feature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Treating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[x]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as proof of correctness — pair every task with an executable proof gate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EARS as a testable acceptance grammar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Manual/advisory reconcile — detect drift continuously and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fail closed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Approval gates + a graduated bypass (not all-or-nothing)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Coupling spec workflow to one IDE's buttons; keep it tool-neutral (ACP is the right move)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Design phase reads the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real codebase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before designing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Brittle in-band status markers gating execution (bug #8859: agent reads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[-]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and refuses to run)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Steering files with scoped injection (always / fileMatch glob / manual / auto)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Conventional-only traceability — enforce every requirement maps to a task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and a test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19" y="5614416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Source: kiro.dev/docs/specs, /docs/cli/acp, github.com/kirodotdev/Kiro/issues/8859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4000">
                <a:solidFill>
                  <a:srgbClr val="FFFFFF"/>
                </a:solidFill>
              </a:rPr>
              <a:t>Tessl &amp; the Emerging SDD Landscape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Tessl — what it is, and which generation you're copying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Tessl makes the </a:t>
            </a:r>
            <a:r>
              <a:rPr b="1" sz="1500">
                <a:solidFill>
                  <a:srgbClr val="0F172A"/>
                </a:solidFill>
              </a:rPr>
              <a:t>spec the durable source-of-truth</a:t>
            </a:r>
            <a:r>
              <a:rPr b="0" sz="1500">
                <a:solidFill>
                  <a:srgbClr val="0F172A"/>
                </a:solidFill>
              </a:rPr>
              <a:t> and treats code/tests as regenerable projections. There are </a:t>
            </a:r>
            <a:r>
              <a:rPr b="1" sz="1500">
                <a:solidFill>
                  <a:srgbClr val="0F172A"/>
                </a:solidFill>
              </a:rPr>
              <a:t>two distinct generations</a:t>
            </a:r>
            <a:r>
              <a:rPr b="0" sz="1500">
                <a:solidFill>
                  <a:srgbClr val="0F172A"/>
                </a:solidFill>
              </a:rPr>
              <a:t> — confusing them is the #1 design error.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084831"/>
          <a:ext cx="10911535" cy="1691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38327">
                <a:tc>
                  <a:txBody>
                    <a:bodyPr wrap="square"/>
                    <a:lstStyle/>
                    <a:p/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Gen 1 — "Tessl Framework" (beta)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Gen 2 — current, shipping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</a:tr>
              <a:tr h="338327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Model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Spec-as-source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code generator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Agent-enablement platform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: package manager + eval tools for reusable agent context (Skills/Rules/Plugins)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8327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SDD delivery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Built into the framework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Installable plugin: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tessl-labs/spec-driven-development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(formerly a "tile")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8327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Spec↔code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1:1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.spec.md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→ one generated file, marked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// GENERATED FROM SPEC - DO NOT EDIT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Spec governs code via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targets: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globs; humans edit code, then reconcile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8331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What's reviewed publicly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Böckeler's Fowler-site review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The methodology plugin (generation engine stays closed)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19" y="3913631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Gen 2 is </a:t>
            </a:r>
            <a:r>
              <a:rPr b="1" sz="1500">
                <a:solidFill>
                  <a:srgbClr val="0F172A"/>
                </a:solidFill>
              </a:rPr>
              <a:t>agent-agnostic</a:t>
            </a:r>
            <a:r>
              <a:rPr b="0" sz="1500">
                <a:solidFill>
                  <a:srgbClr val="0F172A"/>
                </a:solidFill>
              </a:rPr>
              <a:t>: ships a Tessl MCP server + Skills/Rules that plug into Claude Code, Cursor, etc.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498847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A </a:t>
            </a:r>
            <a:r>
              <a:rPr b="1" sz="1500">
                <a:solidFill>
                  <a:srgbClr val="0F172A"/>
                </a:solidFill>
              </a:rPr>
              <a:t>tile→plugin migration is in progress</a:t>
            </a:r>
            <a:r>
              <a:rPr b="0" sz="1500">
                <a:solidFill>
                  <a:srgbClr val="0F172A"/>
                </a:solidFill>
              </a:rPr>
              <a:t> (</a:t>
            </a:r>
            <a:r>
              <a:rPr sz="1500">
                <a:solidFill>
                  <a:srgbClr val="BE123C"/>
                </a:solidFill>
                <a:latin typeface="Consolas"/>
              </a:rPr>
              <a:t>tile.json</a:t>
            </a:r>
            <a:r>
              <a:rPr b="0" sz="1500">
                <a:solidFill>
                  <a:srgbClr val="0F172A"/>
                </a:solidFill>
              </a:rPr>
              <a:t> → </a:t>
            </a:r>
            <a:r>
              <a:rPr sz="1500">
                <a:solidFill>
                  <a:srgbClr val="BE123C"/>
                </a:solidFill>
                <a:latin typeface="Consolas"/>
              </a:rPr>
              <a:t>.tessl-plugin/plugin.json</a:t>
            </a:r>
            <a:r>
              <a:rPr b="0" sz="1500">
                <a:solidFill>
                  <a:srgbClr val="0F172A"/>
                </a:solidFill>
              </a:rPr>
              <a:t>); both coexist, so 3rd-party write-ups describe different systems.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57215"/>
            <a:ext cx="10911535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Source: martinfowler.com/articles/exploring-gen-ai/sdd-3-tools.html (Böckeler, 2025-10-15); docs.tessl.io/introduction-to-tessl/how-tessl-works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Tessl — on-disk layout (Gen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BE123C"/>
                </a:solidFill>
                <a:latin typeface="Consolas"/>
              </a:rPr>
              <a:t>tessl init [--agent &lt;name&gt;]</a:t>
            </a:r>
            <a:r>
              <a:rPr b="0" sz="1500">
                <a:solidFill>
                  <a:srgbClr val="0F172A"/>
                </a:solidFill>
              </a:rPr>
              <a:t> configures the host agent and writes a manifest.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47088"/>
            <a:ext cx="10911535" cy="2798064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bIns="91440"/>
          <a:lstStyle/>
          <a:p>
            <a:pPr algn="ctr"/>
            <a:r>
              <a:rPr sz="1100">
                <a:solidFill>
                  <a:srgbClr val="E2E8F0"/>
                </a:solidFill>
                <a:latin typeface="Consolas"/>
              </a:rPr>
              <a:t>tessl.json              # {name:"workspace/project", mode:"managed"|"vendored",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                      #  dependencies:{"workspace/plugin":"version"}}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.tessl/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.gitignore            # auto-managed by mode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RULES.md              # GENERATED, consolidated plugin rules — never committed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plugins/&lt;workspace&gt;/&lt;plugin&gt;/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  .tessl-plugin/plugin.json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  skills/  rules/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CLAUDE.md               # context file w/ Tessl MCP instructions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AGENTS.md               # if present, Tessl appends ref to .tessl/RULES.md (&lt;!-- tessl-managed --&gt;)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.mcp.json               # Tessl-managed MCP config (Claude Code)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specs/                  # *.spec.md files (verification skill globs specs/ -name "*.spec.md")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75488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`managed`</a:t>
            </a:r>
            <a:r>
              <a:rPr b="0" sz="1500">
                <a:solidFill>
                  <a:srgbClr val="0F172A"/>
                </a:solidFill>
              </a:rPr>
              <a:t> = plugin contents gitignored like </a:t>
            </a:r>
            <a:r>
              <a:rPr sz="1500">
                <a:solidFill>
                  <a:srgbClr val="BE123C"/>
                </a:solidFill>
                <a:latin typeface="Consolas"/>
              </a:rPr>
              <a:t>node_modules</a:t>
            </a:r>
            <a:r>
              <a:rPr b="0" sz="1500">
                <a:solidFill>
                  <a:srgbClr val="0F172A"/>
                </a:solidFill>
              </a:rPr>
              <a:t> (run </a:t>
            </a:r>
            <a:r>
              <a:rPr sz="1500">
                <a:solidFill>
                  <a:srgbClr val="BE123C"/>
                </a:solidFill>
                <a:latin typeface="Consolas"/>
              </a:rPr>
              <a:t>tessl install</a:t>
            </a:r>
            <a:r>
              <a:rPr b="0" sz="1500">
                <a:solidFill>
                  <a:srgbClr val="0F172A"/>
                </a:solidFill>
              </a:rPr>
              <a:t> after clone). </a:t>
            </a:r>
            <a:r>
              <a:rPr b="1" sz="1500">
                <a:solidFill>
                  <a:srgbClr val="0F172A"/>
                </a:solidFill>
              </a:rPr>
              <a:t>`vendored`</a:t>
            </a:r>
            <a:r>
              <a:rPr b="0" sz="1500">
                <a:solidFill>
                  <a:srgbClr val="0F172A"/>
                </a:solidFill>
              </a:rPr>
              <a:t> = committed.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Tessl — on-disk layout (Gen 2)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371600"/>
            <a:ext cx="10820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The SDD plugin repo (</a:t>
            </a:r>
            <a:r>
              <a:rPr sz="1500">
                <a:solidFill>
                  <a:srgbClr val="BE123C"/>
                </a:solidFill>
                <a:latin typeface="Consolas"/>
              </a:rPr>
              <a:t>github.com/tesslio/spec-driven-development-tile</a:t>
            </a:r>
            <a:r>
              <a:rPr b="0" sz="1500">
                <a:solidFill>
                  <a:srgbClr val="0F172A"/>
                </a:solidFill>
              </a:rPr>
              <a:t>, active, ~41★, </a:t>
            </a:r>
            <a:r>
              <a:rPr b="1" sz="1500">
                <a:solidFill>
                  <a:srgbClr val="0F172A"/>
                </a:solidFill>
              </a:rPr>
              <a:t>not archived</a:t>
            </a:r>
            <a:r>
              <a:rPr b="0" sz="1500">
                <a:solidFill>
                  <a:srgbClr val="0F172A"/>
                </a:solidFill>
              </a:rPr>
              <a:t>) ships: </a:t>
            </a:r>
            <a:r>
              <a:rPr b="1" sz="1500">
                <a:solidFill>
                  <a:srgbClr val="0F172A"/>
                </a:solidFill>
              </a:rPr>
              <a:t>4 skills</a:t>
            </a:r>
            <a:r>
              <a:rPr b="0" sz="1500">
                <a:solidFill>
                  <a:srgbClr val="0F172A"/>
                </a:solidFill>
              </a:rPr>
              <a:t> (requirement-gathering, spec-writer, spec-verification, work-review), </a:t>
            </a:r>
            <a:r>
              <a:rPr b="1" sz="1500">
                <a:solidFill>
                  <a:srgbClr val="0F172A"/>
                </a:solidFill>
              </a:rPr>
              <a:t>3 rules</a:t>
            </a:r>
            <a:r>
              <a:rPr b="0" sz="1500">
                <a:solidFill>
                  <a:srgbClr val="0F172A"/>
                </a:solidFill>
              </a:rPr>
              <a:t> (spec-before-code, one-question-at-a-time, spec-format-compliance), </a:t>
            </a:r>
            <a:r>
              <a:rPr sz="1500">
                <a:solidFill>
                  <a:srgbClr val="BE123C"/>
                </a:solidFill>
                <a:latin typeface="Consolas"/>
              </a:rPr>
              <a:t>docs/</a:t>
            </a:r>
            <a:r>
              <a:rPr b="0" sz="1500">
                <a:solidFill>
                  <a:srgbClr val="0F172A"/>
                </a:solidFill>
              </a:rPr>
              <a:t> (spec-format.md, spec-styleguide.md), </a:t>
            </a:r>
            <a:r>
              <a:rPr sz="1500">
                <a:solidFill>
                  <a:srgbClr val="BE123C"/>
                </a:solidFill>
                <a:latin typeface="Consolas"/>
              </a:rPr>
              <a:t>scripts/</a:t>
            </a:r>
            <a:r>
              <a:rPr b="0" sz="1500">
                <a:solidFill>
                  <a:srgbClr val="0F172A"/>
                </a:solidFill>
              </a:rPr>
              <a:t> (validate-specs.sh, check-spec-links.sh), </a:t>
            </a:r>
            <a:r>
              <a:rPr sz="1500">
                <a:solidFill>
                  <a:srgbClr val="BE123C"/>
                </a:solidFill>
                <a:latin typeface="Consolas"/>
              </a:rPr>
              <a:t>evals/</a:t>
            </a:r>
            <a:r>
              <a:rPr b="0" sz="1500">
                <a:solidFill>
                  <a:srgbClr val="0F172A"/>
                </a:solidFill>
              </a:rPr>
              <a:t> (9 scenarios).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7860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Source: docs.tessl.io/reference/configuration; github.com/tesslio/spec-driven-development-tile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Tessl — spec format &amp; the [@test] mechanic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Specs are Markdown, </a:t>
            </a:r>
            <a:r>
              <a:rPr sz="1500">
                <a:solidFill>
                  <a:srgbClr val="BE123C"/>
                </a:solidFill>
                <a:latin typeface="Consolas"/>
              </a:rPr>
              <a:t>.spec.md</a:t>
            </a:r>
            <a:r>
              <a:rPr b="0" sz="1500">
                <a:solidFill>
                  <a:srgbClr val="0F172A"/>
                </a:solidFill>
              </a:rPr>
              <a:t> extension, </a:t>
            </a:r>
            <a:r>
              <a:rPr b="1" sz="1500">
                <a:solidFill>
                  <a:srgbClr val="0F172A"/>
                </a:solidFill>
              </a:rPr>
              <a:t>YAML frontmatter</a:t>
            </a:r>
            <a:r>
              <a:rPr b="0" sz="1500">
                <a:solidFill>
                  <a:srgbClr val="0F172A"/>
                </a:solidFill>
              </a:rPr>
              <a:t>. </a:t>
            </a:r>
            <a:r>
              <a:rPr sz="1500">
                <a:solidFill>
                  <a:srgbClr val="BE123C"/>
                </a:solidFill>
                <a:latin typeface="Consolas"/>
              </a:rPr>
              <a:t>targets:</a:t>
            </a:r>
            <a:r>
              <a:rPr b="0" sz="1500">
                <a:solidFill>
                  <a:srgbClr val="0F172A"/>
                </a:solidFill>
              </a:rPr>
              <a:t> is </a:t>
            </a:r>
            <a:r>
              <a:rPr b="1" sz="1500">
                <a:solidFill>
                  <a:srgbClr val="0F172A"/>
                </a:solidFill>
              </a:rPr>
              <a:t>required</a:t>
            </a:r>
            <a:r>
              <a:rPr b="0" sz="1500">
                <a:solidFill>
                  <a:srgbClr val="0F172A"/>
                </a:solidFill>
              </a:rPr>
              <a:t> (≥1 path or glob — the code the spec governs).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84831"/>
            <a:ext cx="10911535" cy="48463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bIns="91440"/>
          <a:lstStyle/>
          <a:p>
            <a:pPr algn="ctr"/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name: Database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name: Database Architecture description: Key design patterns used across our data models targets: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39" y="1847088"/>
            <a:ext cx="105457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– </a:t>
            </a:r>
            <a:r>
              <a:rPr b="0" sz="1500">
                <a:solidFill>
                  <a:srgbClr val="0F172A"/>
                </a:solidFill>
              </a:rPr>
              <a:t>../src/models//.py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Soft deletes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Records are never hard-deleted; </a:t>
            </a:r>
            <a:r>
              <a:rPr sz="1500">
                <a:solidFill>
                  <a:srgbClr val="BE123C"/>
                </a:solidFill>
                <a:latin typeface="Consolas"/>
              </a:rPr>
              <a:t>deleted_at</a:t>
            </a:r>
            <a:r>
              <a:rPr b="0" sz="1500">
                <a:solidFill>
                  <a:srgbClr val="0F172A"/>
                </a:solidFill>
              </a:rPr>
              <a:t> is stamped... [@test] ../tests/models/test_soft_delete.py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47088"/>
            <a:ext cx="10911535" cy="1746504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bIns="91440"/>
          <a:lstStyle/>
          <a:p>
            <a:pPr algn="ctr"/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- **Inline test linking** is the defining move: `[@test]` sits **next to the requirement it verifies** → mechanical spec↔test traceability.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- Body = context-rich prose under one heading per feature area (behaviors, edge cases, errors, optional API-contract block).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- **No EARS notation. No Kiro-style requirements/design/tasks split** — Böckeler notes Tessl works "at quite low abstraction level, per code file."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- Caveat on the famous line: *"specs don't need a specific format"* is **marketing-blog framing** (Debois), not the plugin docs — `spec-format.md`/`spec-styleguide.md` actually **prescribe** conventions.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*Source: spec-format.md + spec-writer/SKILL.md (tesslio/spec-driven-development-tile); Debois blog "10 things you need to know about specs", 2025-10-29*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Tessl — reconciliation: the headline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The </a:t>
            </a:r>
            <a:r>
              <a:rPr b="1" sz="1500">
                <a:solidFill>
                  <a:srgbClr val="0F172A"/>
                </a:solidFill>
              </a:rPr>
              <a:t>spec-verification skill</a:t>
            </a:r>
            <a:r>
              <a:rPr b="0" sz="1500">
                <a:solidFill>
                  <a:srgbClr val="0F172A"/>
                </a:solidFill>
              </a:rPr>
              <a:t> is the most stealable part — a runnable, 6-step drift loop: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84708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Find all specs</a:t>
            </a:r>
            <a:r>
              <a:rPr b="0" sz="1500">
                <a:solidFill>
                  <a:srgbClr val="0F172A"/>
                </a:solidFill>
              </a:rPr>
              <a:t> — </a:t>
            </a:r>
            <a:r>
              <a:rPr sz="1500">
                <a:solidFill>
                  <a:srgbClr val="BE123C"/>
                </a:solidFill>
                <a:latin typeface="Consolas"/>
              </a:rPr>
              <a:t>find specs/ -name "*.spec.md"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157984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Validate structural integrity</a:t>
            </a:r>
            <a:r>
              <a:rPr b="0" sz="1500">
                <a:solidFill>
                  <a:srgbClr val="0F172A"/>
                </a:solidFill>
              </a:rPr>
              <a:t> — every </a:t>
            </a:r>
            <a:r>
              <a:rPr sz="1500">
                <a:solidFill>
                  <a:srgbClr val="BE123C"/>
                </a:solidFill>
                <a:latin typeface="Consolas"/>
              </a:rPr>
              <a:t>targets:</a:t>
            </a:r>
            <a:r>
              <a:rPr b="0" sz="1500">
                <a:solidFill>
                  <a:srgbClr val="0F172A"/>
                </a:solidFill>
              </a:rPr>
              <a:t> resolves, every </a:t>
            </a:r>
            <a:r>
              <a:rPr sz="1500">
                <a:solidFill>
                  <a:srgbClr val="BE123C"/>
                </a:solidFill>
                <a:latin typeface="Consolas"/>
              </a:rPr>
              <a:t>[@test]</a:t>
            </a:r>
            <a:r>
              <a:rPr b="0" sz="1500">
                <a:solidFill>
                  <a:srgbClr val="0F172A"/>
                </a:solidFill>
              </a:rPr>
              <a:t> points to a real test (</a:t>
            </a:r>
            <a:r>
              <a:rPr sz="1500">
                <a:solidFill>
                  <a:srgbClr val="BE123C"/>
                </a:solidFill>
                <a:latin typeface="Consolas"/>
              </a:rPr>
              <a:t>validate-specs.sh</a:t>
            </a:r>
            <a:r>
              <a:rPr b="0" sz="1500">
                <a:solidFill>
                  <a:srgbClr val="0F172A"/>
                </a:solidFill>
              </a:rPr>
              <a:t>, </a:t>
            </a:r>
            <a:r>
              <a:rPr sz="1500">
                <a:solidFill>
                  <a:srgbClr val="BE123C"/>
                </a:solidFill>
                <a:latin typeface="Consolas"/>
              </a:rPr>
              <a:t>check-spec-links.sh</a:t>
            </a:r>
            <a:r>
              <a:rPr b="0" sz="1500">
                <a:solidFill>
                  <a:srgbClr val="0F172A"/>
                </a:solidFill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74320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Run linked tests</a:t>
            </a:r>
            <a:r>
              <a:rPr b="0" sz="1500">
                <a:solidFill>
                  <a:srgbClr val="0F172A"/>
                </a:solidFill>
              </a:rPr>
              <a:t> — execute referenced files, diagnose failures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054096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Spot-check targets for drift</a:t>
            </a:r>
            <a:r>
              <a:rPr b="0" sz="1500">
                <a:solidFill>
                  <a:srgbClr val="0F172A"/>
                </a:solidFill>
              </a:rPr>
              <a:t> — read code vs documented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3364991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Check drift signals</a:t>
            </a:r>
            <a:r>
              <a:rPr b="0" sz="1500">
                <a:solidFill>
                  <a:srgbClr val="0F172A"/>
                </a:solidFill>
              </a:rPr>
              <a:t> — behavior changed but spec didn't · orphan test, no requirement · requirement, no test · renamed/deleted file still referenced · undocumented code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3950207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Fix drift</a:t>
            </a:r>
            <a:r>
              <a:rPr b="0" sz="1500">
                <a:solidFill>
                  <a:srgbClr val="0F172A"/>
                </a:solidFill>
              </a:rPr>
              <a:t> — emit a structured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34255"/>
            <a:ext cx="10911535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The "spec-as-source registry" idea: Gen-1 launched a </a:t>
            </a:r>
            <a:r>
              <a:rPr b="1" sz="1500">
                <a:solidFill>
                  <a:srgbClr val="0F172A"/>
                </a:solidFill>
              </a:rPr>
              <a:t>Spec/Usage Registry</a:t>
            </a:r>
            <a:r>
              <a:rPr b="0" sz="1500">
                <a:solidFill>
                  <a:srgbClr val="0F172A"/>
                </a:solidFill>
              </a:rPr>
              <a:t> (Sept 2025, "10,000+ pre-built specs") of version-accurate library APIs to kill API hallucination; Gen-2 registry "evaluated 2,000+ public skills against best practices."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1807"/>
            <a:ext cx="1077437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64748B"/>
                </a:solidFill>
              </a:rPr>
              <a:t>Two honest caveats.</a:t>
            </a:r>
            <a:r>
              <a:rPr b="0" sz="1500">
                <a:solidFill>
                  <a:srgbClr val="64748B"/>
                </a:solidFill>
              </a:rPr>
              <a:t> Regeneration is </a:t>
            </a:r>
            <a:r>
              <a:rPr b="1" sz="1500">
                <a:solidFill>
                  <a:srgbClr val="64748B"/>
                </a:solidFill>
              </a:rPr>
              <a:t>non-deterministic</a:t>
            </a:r>
            <a:r>
              <a:rPr b="0" sz="1500">
                <a:solidFill>
                  <a:srgbClr val="64748B"/>
                </a:solidFill>
              </a:rPr>
              <a:t> (Böckeler: same spec → different code across runs) — it's iterative, not a round-trip. And step 6 </a:t>
            </a:r>
            <a:r>
              <a:rPr b="1" sz="1500">
                <a:solidFill>
                  <a:srgbClr val="64748B"/>
                </a:solidFill>
              </a:rPr>
              <a:t>defaults to editing the SPEC to match code</a:t>
            </a:r>
            <a:r>
              <a:rPr b="0" sz="1500">
                <a:solidFill>
                  <a:srgbClr val="64748B"/>
                </a:solidFill>
              </a:rPr>
              <a:t> — an agent can quietly rewrite intent to match a buggy implementation unless a human gates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21807"/>
            <a:ext cx="45720" cy="9326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Tessl — reconciliation: the headline differentiator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Source: spec-verification/SKILL.md; Böckeler (Fowler site); tessl.io/blog launch, 2025-09-23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Tessl — steal vs.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40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11535" cy="2350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8"/>
              </a:tblGrid>
              <a:tr h="335715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Steal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Avoid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</a:tr>
              <a:tr h="335715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The spec-verification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drift loop as a mechanical gate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(resolve globs → assert links →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run tests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→ spot-check → report)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Promising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deterministic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"regenerate code from spec" — their own review shows non-determinism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5715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Inline `[@test]`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per requirement → checkable, not aspirational, traceability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Rigid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1:1 spec-per-file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granularity (Böckeler: risks "inflexibility AND non-determinism" of MDD+LLMs)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5715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`targets:` globs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binding a spec to the exact code it governs → scoped per-spec checks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Auto-"fix drift" by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defaulting to rewrite-the-spec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— require a human call on who's authoritative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5715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Ship gates as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plain shell scripts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in-repo (agent-agnostic, runs in any CI)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Importing the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SaaS surface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(registry accounts, workspaces, orgs, login/api-keys, eval projects)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5715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Keep a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code→spec recovery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step (Gen-1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@describe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) — re-project spec from reality, not just forward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GENERATED … DO NOT EDIT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frozen-output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markers — expect edits, then reconcile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5718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Lightweight Markdown+frontmatter; "tests define intent too"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Tying reconciliation to a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proprietary MCP / mid-churn packaging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(tile.json vs plugin.json)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19" y="3858768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Workflow worth borrowing</a:t>
            </a:r>
            <a:r>
              <a:rPr b="0" sz="1500">
                <a:solidFill>
                  <a:srgbClr val="0F172A"/>
                </a:solidFill>
              </a:rPr>
              <a:t>: spec-before-code rule + </a:t>
            </a:r>
            <a:r>
              <a:rPr b="1" sz="1500">
                <a:solidFill>
                  <a:srgbClr val="0F172A"/>
                </a:solidFill>
              </a:rPr>
              <a:t>one-question-at-a-time</a:t>
            </a:r>
            <a:r>
              <a:rPr b="0" sz="1500">
                <a:solidFill>
                  <a:srgbClr val="0F172A"/>
                </a:solidFill>
              </a:rPr>
              <a:t> requirement gathering + a </a:t>
            </a:r>
            <a:r>
              <a:rPr b="1" sz="1500">
                <a:solidFill>
                  <a:srgbClr val="0F172A"/>
                </a:solidFill>
              </a:rPr>
              <a:t>single human approval gate</a:t>
            </a:r>
            <a:r>
              <a:rPr b="0" sz="1500">
                <a:solidFill>
                  <a:srgbClr val="0F172A"/>
                </a:solidFill>
              </a:rPr>
              <a:t> before implementation.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443983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Don't drop why-level traceability entirely</a:t>
            </a:r>
            <a:r>
              <a:rPr b="0" sz="1500">
                <a:solidFill>
                  <a:srgbClr val="0F172A"/>
                </a:solidFill>
              </a:rPr>
              <a:t> just because Tessl does — some rationale layer helps when code and spec disagree.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The rest of the SDD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Where the field is converging — and each tool's single most notable idea.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Emerging SDD tools —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42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11535" cy="3995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3299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Tool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Category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Single most notable idea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</a:tr>
              <a:tr h="33299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BMAD-METHOD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Agile-team-as-agents (OSS)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Up-front PM/Architect agents →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"shard"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PRD+arch into self-contained per-story files carrying full context to the dev agent (no planning→impl context loss)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299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AGENTS.md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(Linux Fdn)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Tool-agnostic standard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"README for agents" with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nearest-file-wins precedence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down the tree; 60k+ repos, 20+ agents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299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Cursor / Windsurf Rules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IDE rules-as-config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.cursor/rules/*.mdc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carry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globs + `alwaysApply` + agent-requested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metadata → composable, scoped context vs one monolithic prompt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299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Conductor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(Google, Gemini CLI)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Context-driven dev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Specs/plans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persist as Markdown beside code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; engineer shifts from coder → orchestrator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299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Conductor.build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Parallel-agent macOS app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Git-worktree isolation per agent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→ concurrent agents never collide, reviewable merge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299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Intent / Cosmos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(Augment)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Multi-agent spec workspace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One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living spec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drives Coordinator→Specialists→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Verifier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; checked vs spec before merge; Context Engine over 400k+ files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299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Task Master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Spec decomposition (MIT)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PRD →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dependency-aware task graph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; AI PM inside Cursor/Windsurf/Roo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299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GSD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Spec-driven framework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Differentiates on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execution/orchestration depth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of the specify-plan-execute-verify loop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299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DSPy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(Stanford)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Program-not-prompt LLMs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The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signature as executable spec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(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question -&gt; answer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); compiler/teleprompter auto-tunes prompts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299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TDD-for-LLMs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Research/benchmarks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Tests as the executable truth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— supplied as both instruction and verifier (TiCoder, arXiv:2402.13521)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299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PRPM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Cross-tool registry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"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npm for AI coding tools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" — prompts/rules/skills/agents as installable, versioned deps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19" y="5504688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Convergent core loop</a:t>
            </a:r>
            <a:r>
              <a:rPr b="0" sz="1500">
                <a:solidFill>
                  <a:srgbClr val="0F172A"/>
                </a:solidFill>
              </a:rPr>
              <a:t>: specify → plan → decompose → execute → verify. Differentiation is in which stage each tool deepens.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Emerging SDD tools — landscape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371600"/>
            <a:ext cx="10820095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Three frontiers to watch</a:t>
            </a:r>
            <a:r>
              <a:rPr b="0" sz="1500">
                <a:solidFill>
                  <a:srgbClr val="0F172A"/>
                </a:solidFill>
              </a:rPr>
              <a:t>: (1) portable context standards (AGENTS.md, PRPM); (2) safe multi-agent parallelism (worktree isolation); (3) compiled/test-as-spec (DSPy, TDD-for-LLMs) where the spec is executed, not hand-written.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04288"/>
            <a:ext cx="10911535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Sources: github.com/bmad-code-org/bmad-method · agents.md · docs.cursor.com/context/rules · developers.googleblog.com (Conductor) · conductor.build · augmentcode.com/blog/intent · github.com/eyaltoledano/claude-task-master · github.com/stanfordnlp/dspy · arxiv.org/abs/2402.13521 · github.com/pr-pm/prpm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4000">
                <a:solidFill>
                  <a:srgbClr val="FFFFFF"/>
                </a:solidFill>
              </a:rPr>
              <a:t>Academic Rigor</a:t>
            </a:r>
          </a:p>
          <a:p>
            <a:pPr>
              <a:spcAft>
                <a:spcPts val="600"/>
              </a:spcAft>
            </a:pPr>
            <a:r>
              <a:rPr b="0" sz="2200">
                <a:solidFill>
                  <a:srgbClr val="E9D5FF"/>
                </a:solidFill>
              </a:rPr>
              <a:t>What the literature demands of a spec-driven system — and how this harness answers it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The core inversion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37160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Traditional spec:</a:t>
            </a:r>
            <a:r>
              <a:rPr b="0" sz="1500">
                <a:solidFill>
                  <a:srgbClr val="0F172A"/>
                </a:solidFill>
              </a:rPr>
              <a:t> a document humans read, then drift away from.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682495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Spec-driven (SDD) spec:</a:t>
            </a:r>
            <a:r>
              <a:rPr b="0" sz="1500">
                <a:solidFill>
                  <a:srgbClr val="0F172A"/>
                </a:solidFill>
              </a:rPr>
              <a:t> an artifact that executes as a validation gate in CI — it fails the build when reality diverges.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26771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The contested question every team must answer </a:t>
            </a:r>
            <a:r>
              <a:rPr b="1" sz="1500">
                <a:solidFill>
                  <a:srgbClr val="0F172A"/>
                </a:solidFill>
              </a:rPr>
              <a:t>deliberately</a:t>
            </a:r>
            <a:r>
              <a:rPr b="0" sz="1500">
                <a:solidFill>
                  <a:srgbClr val="0F172A"/>
                </a:solidFill>
              </a:rPr>
              <a:t>: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2651760"/>
          <a:ext cx="10911535" cy="1033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4442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Camp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Source of truth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Code is…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</a:tr>
              <a:tr h="34442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Radical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(Grove/OpenAI)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the spec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a regenerable byproduct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4442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Conservative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(Thoughtworks)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the spec as behavioral contract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the maintained, runnable artifact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19" y="3822191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Thoughtworks rates SDD </a:t>
            </a:r>
            <a:r>
              <a:rPr b="1" sz="1500">
                <a:solidFill>
                  <a:srgbClr val="0F172A"/>
                </a:solidFill>
              </a:rPr>
              <a:t>"Assess"</a:t>
            </a:r>
            <a:r>
              <a:rPr b="0" sz="1500">
                <a:solidFill>
                  <a:srgbClr val="0F172A"/>
                </a:solidFill>
              </a:rPr>
              <a:t> (promising, unproven) and names the antipattern: heavy upfront specs + big-bang releases = waterfall in disguise.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59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Source: arXiv 2602.00180 "From Code to Contract"; thoughtworks.com/radar/techniques/spec-driven-development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Requirements engineering: 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Unconstrained natural language is the dominant source of ambiguity, vagueness, and incompleteness. </a:t>
            </a:r>
            <a:r>
              <a:rPr b="1" sz="1500">
                <a:solidFill>
                  <a:srgbClr val="0F172A"/>
                </a:solidFill>
              </a:rPr>
              <a:t>EARS</a:t>
            </a:r>
            <a:r>
              <a:rPr b="0" sz="1500">
                <a:solidFill>
                  <a:srgbClr val="0F172A"/>
                </a:solidFill>
              </a:rPr>
              <a:t> (Alistair Mavin et al., Rolls-Royce, IEEE RE'09) constrains prose into a fixed clause order and a tiny keyword vocabulary.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84831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Grammar: </a:t>
            </a:r>
            <a:r>
              <a:rPr sz="1500">
                <a:solidFill>
                  <a:srgbClr val="BE123C"/>
                </a:solidFill>
                <a:latin typeface="Consolas"/>
              </a:rPr>
              <a:t>WHILE &lt;precondition(s)&gt;, WHEN &lt;trigger&gt;, the &lt;system&gt; SHALL &lt;response(s)&gt;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1077437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64748B"/>
                </a:solidFill>
              </a:rPr>
              <a:t>0+ preconditions · 0–1 trigger · exactly one system name · 1+ responses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60320"/>
            <a:ext cx="45720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090672"/>
          <a:ext cx="10911535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8"/>
              </a:tblGrid>
              <a:tr h="33680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Template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Pattern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Ubiquitous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The &lt;system&gt; shall &lt;response&gt;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State-driven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WHILE &lt;state&gt;, the &lt;system&gt; shall &lt;response&gt;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Event-driven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WHEN &lt;trigger&gt;, the &lt;system&gt; shall &lt;response&gt;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Optional-feature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WHERE &lt;feature&gt;, the &lt;system&gt; shall &lt;response&gt;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Unwanted-behaviour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IF &lt;trigger&gt;, THEN the &lt;system&gt; shall &lt;response&gt;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248656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Source: alistairmavin.com/ears/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EARS in practice (and why it matters here)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Each EARS line names </a:t>
            </a:r>
            <a:r>
              <a:rPr b="1" sz="1500">
                <a:solidFill>
                  <a:srgbClr val="0F172A"/>
                </a:solidFill>
              </a:rPr>
              <a:t>one condition + one testable response</a:t>
            </a:r>
            <a:r>
              <a:rPr b="0" sz="1500">
                <a:solidFill>
                  <a:srgbClr val="0F172A"/>
                </a:solidFill>
              </a:rPr>
              <a:t> → it maps almost 1:1 to an acceptance test. That is exactly what makes drift mechanically detectable.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84831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Our </a:t>
            </a:r>
            <a:r>
              <a:rPr sz="1500">
                <a:solidFill>
                  <a:srgbClr val="BE123C"/>
                </a:solidFill>
                <a:latin typeface="Consolas"/>
              </a:rPr>
              <a:t>examples/calc-agent/spec/calc-agent.md</a:t>
            </a:r>
            <a:r>
              <a:rPr b="0" sz="1500">
                <a:solidFill>
                  <a:srgbClr val="0F172A"/>
                </a:solidFill>
              </a:rPr>
              <a:t> is already EARS-shaped prose — rewritten to template: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60320"/>
            <a:ext cx="10911535" cy="1956816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bIns="91440"/>
          <a:lstStyle/>
          <a:p>
            <a:pPr algn="ctr"/>
            <a:r>
              <a:rPr sz="1100">
                <a:solidFill>
                  <a:srgbClr val="E2E8F0"/>
                </a:solidFill>
                <a:latin typeface="Consolas"/>
              </a:rPr>
              <a:t>Event-driven:    WHEN a function_call part is present, the agent shall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               call calculator(**fc.args) and append the result.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Unwanted:        IF the tool raises, THEN the agent shall feed back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               "error: {e}" rather than propagate the exception.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Unwanted:        IF max_steps is reached with no text answer, THEN the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               agent shall return "(ran out of steps)".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Ubiquitous:      The calculator shall reject any AST node outside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               {const, +,-,*,/,**,%, unary} with ValueError.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26864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Each line is asserted by a keyless test — the spec becomes the test oracle.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Formal vs. lightweight: a deliberate spectrum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48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11535" cy="1691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6"/>
              </a:tblGrid>
              <a:tr h="338327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Approach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Cost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What it buys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Where to use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</a:tr>
              <a:tr h="338327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Prose / PRD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low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readability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never the sole contract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8327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EARS / Spec-by-Example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low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testable clauses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every behavioral req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8327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Types / contracts / properties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medium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machine-checkable, self-syncing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most of the system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8331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TLA+ / formal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high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bugs no test or review finds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the hard core only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19" y="320040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AWS</a:t>
            </a:r>
            <a:r>
              <a:rPr b="0" sz="1500">
                <a:solidFill>
                  <a:srgbClr val="0F172A"/>
                </a:solidFill>
              </a:rPr>
              <a:t> has run TLA+ in production since 2011 (DynamoDB, S3): formal methods find subtle design bugs and let engineers "verify deep changes are safe — or learn they are unsafe — without doing harm."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785615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Scope it to </a:t>
            </a:r>
            <a:r>
              <a:rPr b="1" sz="1500">
                <a:solidFill>
                  <a:srgbClr val="0F172A"/>
                </a:solidFill>
              </a:rPr>
              <a:t>concurrency, distributed protocols, agent control loops, irreversible ops</a:t>
            </a:r>
            <a:r>
              <a:rPr b="0" sz="1500">
                <a:solidFill>
                  <a:srgbClr val="0F172A"/>
                </a:solidFill>
              </a:rPr>
              <a:t>. Over-formalizing everywhere re-creates waterfall.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43983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Source: cacm.acm.org/research/how-amazon-web-services-uses-formal-methods/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Tests, types, properties AS the spec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774375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64748B"/>
                </a:solidFill>
              </a:rPr>
              <a:t>"Unit tests enumerate a handful of examples; a property/contract states the rule itself." — Hillel Wayne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45720" cy="4206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90195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Preconditions</a:t>
            </a:r>
            <a:r>
              <a:rPr b="0" sz="1500">
                <a:solidFill>
                  <a:srgbClr val="0F172A"/>
                </a:solidFill>
              </a:rPr>
              <a:t> (must hold on entry) · </a:t>
            </a:r>
            <a:r>
              <a:rPr b="1" sz="1500">
                <a:solidFill>
                  <a:srgbClr val="0F172A"/>
                </a:solidFill>
              </a:rPr>
              <a:t>postconditions</a:t>
            </a:r>
            <a:r>
              <a:rPr b="0" sz="1500">
                <a:solidFill>
                  <a:srgbClr val="0F172A"/>
                </a:solidFill>
              </a:rPr>
              <a:t> (guaranteed on exit) · </a:t>
            </a:r>
            <a:r>
              <a:rPr b="1" sz="1500">
                <a:solidFill>
                  <a:srgbClr val="0F172A"/>
                </a:solidFill>
              </a:rPr>
              <a:t>invariants</a:t>
            </a:r>
            <a:r>
              <a:rPr b="0" sz="1500">
                <a:solidFill>
                  <a:srgbClr val="0F172A"/>
                </a:solidFill>
              </a:rPr>
              <a:t> (always hold).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212848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Property-based testing explores hundreds of inputs while contracts assert correctness across deep call chains → </a:t>
            </a:r>
            <a:r>
              <a:rPr b="1" sz="1500">
                <a:solidFill>
                  <a:srgbClr val="0F172A"/>
                </a:solidFill>
              </a:rPr>
              <a:t>integration coverage "for free."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279806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When code diverges, the property fails — the spec cannot silently lie.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821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Our calc-agent spec already states a true </a:t>
            </a:r>
            <a:r>
              <a:rPr b="1" sz="1500">
                <a:solidFill>
                  <a:srgbClr val="0F172A"/>
                </a:solidFill>
              </a:rPr>
              <a:t>safety invariant</a:t>
            </a:r>
            <a:r>
              <a:rPr b="0" sz="1500">
                <a:solidFill>
                  <a:srgbClr val="0F172A"/>
                </a:solidFill>
              </a:rPr>
              <a:t>, not examples: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57600"/>
            <a:ext cx="10911535" cy="1115568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bIns="91440"/>
          <a:lstStyle/>
          <a:p>
            <a:pPr algn="ctr"/>
            <a:r>
              <a:rPr sz="1100">
                <a:solidFill>
                  <a:srgbClr val="E2E8F0"/>
                </a:solidFill>
                <a:latin typeface="Consolas"/>
              </a:rPr>
              <a:t>Safety property: only {const, binary +-*/**%, unary +/-} are evaluated.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Any other node — names, calls, attribute access — raises ValueError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BEFORE evaluation; eval/exec are never used.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So  x + 1  and  __import__('os').system('echo hi')  are rejected.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82896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Source: hillelwayne.com/pbt-contracts/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Spec/code drift &amp;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Drift — code behavior diverging from its documented contract — is "inherently difficult to avoid" and </a:t>
            </a:r>
            <a:r>
              <a:rPr b="1" sz="1500">
                <a:solidFill>
                  <a:srgbClr val="0F172A"/>
                </a:solidFill>
              </a:rPr>
              <a:t>compounds silently</a:t>
            </a:r>
            <a:r>
              <a:rPr b="0" sz="1500">
                <a:solidFill>
                  <a:srgbClr val="0F172A"/>
                </a:solidFill>
              </a:rPr>
              <a:t> under periodic review. The research consensus: a </a:t>
            </a:r>
            <a:r>
              <a:rPr b="1" sz="1500">
                <a:solidFill>
                  <a:srgbClr val="0F172A"/>
                </a:solidFill>
              </a:rPr>
              <a:t>commit-time gate</a:t>
            </a:r>
            <a:r>
              <a:rPr b="0" sz="1500">
                <a:solidFill>
                  <a:srgbClr val="0F172A"/>
                </a:solidFill>
              </a:rPr>
              <a:t>, not a quarterly audit.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84831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The four-part reconciliation discipline: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6032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Any behavior change updates </a:t>
            </a:r>
            <a:r>
              <a:rPr b="1" sz="1500">
                <a:solidFill>
                  <a:srgbClr val="0F172A"/>
                </a:solidFill>
              </a:rPr>
              <a:t>both</a:t>
            </a:r>
            <a:r>
              <a:rPr b="0" sz="1500">
                <a:solidFill>
                  <a:srgbClr val="0F172A"/>
                </a:solidFill>
              </a:rPr>
              <a:t> spec and code in the </a:t>
            </a:r>
            <a:r>
              <a:rPr b="1" sz="1500">
                <a:solidFill>
                  <a:srgbClr val="0F172A"/>
                </a:solidFill>
              </a:rPr>
              <a:t>same</a:t>
            </a:r>
            <a:r>
              <a:rPr b="0" sz="1500">
                <a:solidFill>
                  <a:srgbClr val="0F172A"/>
                </a:solidFill>
              </a:rPr>
              <a:t> change (sync-owner-gate).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871215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Make the spec </a:t>
            </a:r>
            <a:r>
              <a:rPr b="1" sz="1500">
                <a:solidFill>
                  <a:srgbClr val="0F172A"/>
                </a:solidFill>
              </a:rPr>
              <a:t>executable</a:t>
            </a:r>
            <a:r>
              <a:rPr b="0" sz="1500">
                <a:solidFill>
                  <a:srgbClr val="0F172A"/>
                </a:solidFill>
              </a:rPr>
              <a:t> so divergence trips a test immediately (EARS / examples / contracts).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182111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For structural contracts, run </a:t>
            </a:r>
            <a:r>
              <a:rPr b="1" sz="1500">
                <a:solidFill>
                  <a:srgbClr val="0F172A"/>
                </a:solidFill>
              </a:rPr>
              <a:t>automated spec-vs-code comparison</a:t>
            </a:r>
            <a:r>
              <a:rPr b="0" sz="1500">
                <a:solidFill>
                  <a:srgbClr val="0F172A"/>
                </a:solidFill>
              </a:rPr>
              <a:t> (OpenAPI/route/model diff).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3493007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On detection, </a:t>
            </a:r>
            <a:r>
              <a:rPr b="1" sz="1500">
                <a:solidFill>
                  <a:srgbClr val="0F172A"/>
                </a:solidFill>
              </a:rPr>
              <a:t>force resolution before merge</a:t>
            </a:r>
            <a:r>
              <a:rPr b="0" sz="1500">
                <a:solidFill>
                  <a:srgbClr val="0F172A"/>
                </a:solidFill>
              </a:rPr>
              <a:t> — fail CI, auto-open a PR, or notify.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77055"/>
            <a:ext cx="10911535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Drift-resistant by construction: literate programming (one source) and tests-as-spec (the spec is the passing check).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902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Source: github.com/ChrysKoum/SpecSync; wasowski "sync-owner-gate"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Verification &amp; proof — mapping our gate to the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Academic verification asks: does the system meet its spec, observed — not asserted? Our </a:t>
            </a:r>
            <a:r>
              <a:rPr b="1" sz="1500">
                <a:solidFill>
                  <a:srgbClr val="0F172A"/>
                </a:solidFill>
              </a:rPr>
              <a:t>proof-gate</a:t>
            </a:r>
            <a:r>
              <a:rPr b="0" sz="1500">
                <a:solidFill>
                  <a:srgbClr val="0F172A"/>
                </a:solidFill>
              </a:rPr>
              <a:t> (</a:t>
            </a:r>
            <a:r>
              <a:rPr sz="1500">
                <a:solidFill>
                  <a:srgbClr val="BE123C"/>
                </a:solidFill>
                <a:latin typeface="Consolas"/>
              </a:rPr>
              <a:t>.claude/skills/proof-gate/SKILL.md</a:t>
            </a:r>
            <a:r>
              <a:rPr b="0" sz="1500">
                <a:solidFill>
                  <a:srgbClr val="0F172A"/>
                </a:solidFill>
              </a:rPr>
              <a:t>) is that discipline operationalized: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84831"/>
            <a:ext cx="10911535" cy="1325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bIns="91440"/>
          <a:lstStyle/>
          <a:p>
            <a:pPr algn="ctr"/>
            <a:r>
              <a:rPr sz="1100">
                <a:solidFill>
                  <a:srgbClr val="E2E8F0"/>
                </a:solidFill>
                <a:latin typeface="Consolas"/>
              </a:rPr>
              <a:t>1. Boot it.        Start the app for real (not just import).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2. Run the change. Exercise the new behaviour end-to-end.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3. Judge the OUTCOME, not the status.  A 200 with a wrong answer is a FAIL.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4. Bind every acceptance criterion to a real check.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                   An unbound criterion is not done.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520440"/>
          <a:ext cx="10911535" cy="1691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8"/>
              </a:tblGrid>
              <a:tr h="338327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Academic concept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Our mechanism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</a:tr>
              <a:tr h="338327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Spec as oracle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EARS-style acceptance check (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…returns answer containing 396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)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8327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Soundness ("no false pass")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"Never report a pass you didn't run"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8327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LLM-judged output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sample the judge, require a stable majority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8331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Coverage of obligations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every criterion bound to a running test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Lineage: literate &amp; intent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37160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Knuth, literate programming (1984):</a:t>
            </a:r>
            <a:r>
              <a:rPr b="0" sz="1500">
                <a:solidFill>
                  <a:srgbClr val="0F172A"/>
                </a:solidFill>
              </a:rPr>
              <a:t> author the program as an explanation of intent interleaved with code, in human reasoning order. One source </a:t>
            </a:r>
            <a:r>
              <a:rPr b="1" sz="1500">
                <a:solidFill>
                  <a:srgbClr val="0F172A"/>
                </a:solidFill>
              </a:rPr>
              <a:t>tangles</a:t>
            </a:r>
            <a:r>
              <a:rPr b="0" sz="1500">
                <a:solidFill>
                  <a:srgbClr val="0F172A"/>
                </a:solidFill>
              </a:rPr>
              <a:t> → runnable code, </a:t>
            </a:r>
            <a:r>
              <a:rPr b="1" sz="1500">
                <a:solidFill>
                  <a:srgbClr val="0F172A"/>
                </a:solidFill>
              </a:rPr>
              <a:t>weaves</a:t>
            </a:r>
            <a:r>
              <a:rPr b="0" sz="1500">
                <a:solidFill>
                  <a:srgbClr val="0F172A"/>
                </a:solidFill>
              </a:rPr>
              <a:t> → docs.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956816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The original, durable answer to drift: intent and implementation are the same file — nothing separate to desync. The conceptual ancestor of "spec as source of truth."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Spec-by-Example / living documentation</a:t>
            </a:r>
            <a:r>
              <a:rPr b="0" sz="1500">
                <a:solidFill>
                  <a:srgbClr val="0F172A"/>
                </a:solidFill>
              </a:rPr>
              <a:t> (Fowler 2002; Adzic, 50+ projects): derive specs from concrete domain-language scenarios, automate them as acceptance tests → the spec </a:t>
            </a:r>
            <a:r>
              <a:rPr b="1" sz="1500">
                <a:solidFill>
                  <a:srgbClr val="0F172A"/>
                </a:solidFill>
              </a:rPr>
              <a:t>is</a:t>
            </a:r>
            <a:r>
              <a:rPr b="0" sz="1500">
                <a:solidFill>
                  <a:srgbClr val="0F172A"/>
                </a:solidFill>
              </a:rPr>
              <a:t> the passing suite.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127248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Fowler's caution: tests are always incomplete — supplement examples with types, contracts, and review.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85616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Source: literateprogramming.com/knuthweb.pdf; thoughtworks.medium.com spec-by-example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"Spec as source code" — the discourse &amp; the voices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371600"/>
            <a:ext cx="10820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Sean Grove (OpenAI):</a:t>
            </a:r>
            <a:r>
              <a:rPr b="0" sz="1500">
                <a:solidFill>
                  <a:srgbClr val="0F172A"/>
                </a:solidFill>
              </a:rPr>
              <a:t> code is a "lossy projection" of intent; code is ~10–20% of value, the other 80–90% is structured communication &amp; verification. Don't "version the binary and shred the source." OpenAI's </a:t>
            </a:r>
            <a:r>
              <a:rPr b="1" sz="1500">
                <a:solidFill>
                  <a:srgbClr val="0F172A"/>
                </a:solidFill>
              </a:rPr>
              <a:t>Model Spec</a:t>
            </a:r>
            <a:r>
              <a:rPr b="0" sz="1500">
                <a:solidFill>
                  <a:srgbClr val="0F172A"/>
                </a:solidFill>
              </a:rPr>
              <a:t> (markdown) trains models, generates tests, and was a "trust anchor" during the sycophancy incident.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505456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Anthropic engineering:</a:t>
            </a:r>
            <a:r>
              <a:rPr b="0" sz="1500">
                <a:solidFill>
                  <a:srgbClr val="0F172A"/>
                </a:solidFill>
              </a:rPr>
              <a:t> for AI agents the </a:t>
            </a:r>
            <a:r>
              <a:rPr b="1" sz="1500">
                <a:solidFill>
                  <a:srgbClr val="0F172A"/>
                </a:solidFill>
              </a:rPr>
              <a:t>tool/spec description IS the execution context</a:t>
            </a:r>
            <a:r>
              <a:rPr b="0" sz="1500">
                <a:solidFill>
                  <a:srgbClr val="0F172A"/>
                </a:solidFill>
              </a:rPr>
              <a:t> — wording-level changes alone moved SWE-bench error rates; iterate the spec via evaluation-driven development.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3163824"/>
          <a:ext cx="10911535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8"/>
              </a:tblGrid>
              <a:tr h="33680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Voice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Stance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Grove / OpenAI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radical: spec is the fundamental unit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Thoughtworks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pragmatist: behavioral contract, beware over-formalization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Fowler / Adzic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spec lives as executable acceptance tests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Wayne; Lamport / AWS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contracts/properties/types &amp; TLA+ for the hard core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Knuth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literate: a document that contains the program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What rigor says a good spec-driven system MUST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37160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Phrase requirements in EARS</a:t>
            </a:r>
            <a:r>
              <a:rPr b="0" sz="1500">
                <a:solidFill>
                  <a:srgbClr val="0F172A"/>
                </a:solidFill>
              </a:rPr>
              <a:t> — one condition, one testable response per line → the proof-gate can assert each.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956816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Declare the authority</a:t>
            </a:r>
            <a:r>
              <a:rPr b="0" sz="1500">
                <a:solidFill>
                  <a:srgbClr val="0F172A"/>
                </a:solidFill>
              </a:rPr>
              <a:t> — state in the harness that the spec is the human-readable behavioral contract and code is the runnable output (resolve radical-vs-conservative explicitly).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Gate both directions</a:t>
            </a:r>
            <a:r>
              <a:rPr b="0" sz="1500">
                <a:solidFill>
                  <a:srgbClr val="0F172A"/>
                </a:solidFill>
              </a:rPr>
              <a:t> — commit-time gate forward (spec+code together) </a:t>
            </a:r>
            <a:r>
              <a:rPr b="1" sz="1500">
                <a:solidFill>
                  <a:srgbClr val="0F172A"/>
                </a:solidFill>
              </a:rPr>
              <a:t>and</a:t>
            </a:r>
            <a:r>
              <a:rPr b="0" sz="1500">
                <a:solidFill>
                  <a:srgbClr val="0F172A"/>
                </a:solidFill>
              </a:rPr>
              <a:t> a </a:t>
            </a:r>
            <a:r>
              <a:rPr sz="1500">
                <a:solidFill>
                  <a:srgbClr val="BE123C"/>
                </a:solidFill>
                <a:latin typeface="Consolas"/>
              </a:rPr>
              <a:t>/sync</a:t>
            </a:r>
            <a:r>
              <a:rPr b="0" sz="1500">
                <a:solidFill>
                  <a:srgbClr val="0F172A"/>
                </a:solidFill>
              </a:rPr>
              <a:t> step that re-projects the spec from current code so it never rots.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127248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Make the spec executable</a:t>
            </a:r>
            <a:r>
              <a:rPr b="0" sz="1500">
                <a:solidFill>
                  <a:srgbClr val="0F172A"/>
                </a:solidFill>
              </a:rPr>
              <a:t> — tests, contracts, properties, types; prove behavior, don't enumerate examples.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71246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Reserve formal methods for the hard core</a:t>
            </a:r>
            <a:r>
              <a:rPr b="0" sz="1500">
                <a:solidFill>
                  <a:srgbClr val="0F172A"/>
                </a:solidFill>
              </a:rPr>
              <a:t> — agent control loops, irreversible ops; not everywhere.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40233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Iterate spec wording with evals</a:t>
            </a:r>
            <a:r>
              <a:rPr b="0" sz="1500">
                <a:solidFill>
                  <a:srgbClr val="0F172A"/>
                </a:solidFill>
              </a:rPr>
              <a:t> — for AI-built parts, the spec is context; measure error rates.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4334256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Stay small &amp; modular</a:t>
            </a:r>
            <a:r>
              <a:rPr b="0" sz="1500">
                <a:solidFill>
                  <a:srgbClr val="0F172A"/>
                </a:solidFill>
              </a:rPr>
              <a:t> — avoid the "curse of instructions"; keep each unit reviewable and diffable.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18304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This is precisely the proof-first, spec-in-sync loop our </a:t>
            </a:r>
            <a:r>
              <a:rPr sz="1500">
                <a:solidFill>
                  <a:srgbClr val="BE123C"/>
                </a:solidFill>
                <a:latin typeface="Consolas"/>
              </a:rPr>
              <a:t>/new</a:t>
            </a:r>
            <a:r>
              <a:rPr b="0" sz="1500">
                <a:solidFill>
                  <a:srgbClr val="0F172A"/>
                </a:solidFill>
              </a:rPr>
              <a:t> and </a:t>
            </a:r>
            <a:r>
              <a:rPr sz="1500">
                <a:solidFill>
                  <a:srgbClr val="BE123C"/>
                </a:solidFill>
                <a:latin typeface="Consolas"/>
              </a:rPr>
              <a:t>/change</a:t>
            </a:r>
            <a:r>
              <a:rPr b="0" sz="1500">
                <a:solidFill>
                  <a:srgbClr val="0F172A"/>
                </a:solidFill>
              </a:rPr>
              <a:t> workflows enforce.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4000">
                <a:solidFill>
                  <a:srgbClr val="FFFFFF"/>
                </a:solidFill>
              </a:rPr>
              <a:t>Our Repo: History &amp; the Decisions We've Made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The bloat curve: "fine &amp; fast" → "overkill"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We grew the harness three times. Each version "worked" by its own bar, but the cost-to-understand outran the value.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47088"/>
          <a:ext cx="10911535" cy="1362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6"/>
              </a:tblGrid>
              <a:tr h="34061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Version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Size (md+py)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Verdict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Why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</a:tr>
              <a:tr h="34061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v1 (early)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~3.7k lines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"fine &amp; fast"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thin, legible, did the job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4061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v2 (recipes redo)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~5.7k lines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"slower but worked"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copyable recipes, more rigor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4061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v3 (overnight autonomous rewrite)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~7.8k lines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"OVERKILL"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the owner could not explain his own repo's core mechanisms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19" y="334670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The failure mode isn't a bug — it's </a:t>
            </a:r>
            <a:r>
              <a:rPr b="1" sz="1500">
                <a:solidFill>
                  <a:srgbClr val="0F172A"/>
                </a:solidFill>
              </a:rPr>
              <a:t>unmanageable surface area</a:t>
            </a:r>
            <a:r>
              <a:rPr b="0" sz="1500">
                <a:solidFill>
                  <a:srgbClr val="0F172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65760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A harness you can't reason about can't be safely changed.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4164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Source: line counts from our v1→v2→v3 history; v3 = HEAD commit </a:t>
            </a:r>
            <a:r>
              <a:rPr sz="1500">
                <a:solidFill>
                  <a:srgbClr val="BE123C"/>
                </a:solidFill>
                <a:latin typeface="Consolas"/>
              </a:rPr>
              <a:t>befd889</a:t>
            </a:r>
            <a:r>
              <a:rPr b="0" sz="1500">
                <a:solidFill>
                  <a:srgbClr val="0F172A"/>
                </a:solidFill>
              </a:rPr>
              <a:t>, PR #28.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What the old harness DID (and it's real)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The v3 baseline (</a:t>
            </a:r>
            <a:r>
              <a:rPr sz="1500">
                <a:solidFill>
                  <a:srgbClr val="BE123C"/>
                </a:solidFill>
                <a:latin typeface="Consolas"/>
              </a:rPr>
              <a:t>befd889</a:t>
            </a:r>
            <a:r>
              <a:rPr b="0" sz="1500">
                <a:solidFill>
                  <a:srgbClr val="0F172A"/>
                </a:solidFill>
              </a:rPr>
              <a:t>, "harness v3: proof-first spec-driven") is a Claude-Code-only, spec-driven harness. Its thesis: </a:t>
            </a:r>
            <a:r>
              <a:rPr b="1" sz="1500">
                <a:solidFill>
                  <a:srgbClr val="0F172A"/>
                </a:solidFill>
              </a:rPr>
              <a:t>the only spec-driven tool that compiles and proves it ran.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084831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sz="1500">
                <a:solidFill>
                  <a:srgbClr val="BE123C"/>
                </a:solidFill>
                <a:latin typeface="Consolas"/>
              </a:rPr>
              <a:t>/build "&lt;idea&gt;"</a:t>
            </a:r>
            <a:r>
              <a:rPr b="0" sz="1500">
                <a:solidFill>
                  <a:srgbClr val="0F172A"/>
                </a:solidFill>
              </a:rPr>
              <a:t> → one 4-question intake (API key + runtime model at Q4)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395727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Fans out to sub-agents: </a:t>
            </a:r>
            <a:r>
              <a:rPr sz="1500">
                <a:solidFill>
                  <a:srgbClr val="BE123C"/>
                </a:solidFill>
                <a:latin typeface="Consolas"/>
              </a:rPr>
              <a:t>spec-writer</a:t>
            </a:r>
            <a:r>
              <a:rPr b="0" sz="1500">
                <a:solidFill>
                  <a:srgbClr val="0F172A"/>
                </a:solidFill>
              </a:rPr>
              <a:t>, </a:t>
            </a:r>
            <a:r>
              <a:rPr sz="1500">
                <a:solidFill>
                  <a:srgbClr val="BE123C"/>
                </a:solidFill>
                <a:latin typeface="Consolas"/>
              </a:rPr>
              <a:t>tech-designer</a:t>
            </a:r>
            <a:r>
              <a:rPr b="0" sz="1500">
                <a:solidFill>
                  <a:srgbClr val="0F172A"/>
                </a:solidFill>
              </a:rPr>
              <a:t>, </a:t>
            </a:r>
            <a:r>
              <a:rPr sz="1500">
                <a:solidFill>
                  <a:srgbClr val="BE123C"/>
                </a:solidFill>
                <a:latin typeface="Consolas"/>
              </a:rPr>
              <a:t>planner</a:t>
            </a:r>
            <a:r>
              <a:rPr b="0" sz="1500">
                <a:solidFill>
                  <a:srgbClr val="0F172A"/>
                </a:solidFill>
              </a:rPr>
              <a:t>, </a:t>
            </a:r>
            <a:r>
              <a:rPr sz="1500">
                <a:solidFill>
                  <a:srgbClr val="BE123C"/>
                </a:solidFill>
                <a:latin typeface="Consolas"/>
              </a:rPr>
              <a:t>spec-reviewer</a:t>
            </a:r>
            <a:r>
              <a:rPr b="0" sz="1500">
                <a:solidFill>
                  <a:srgbClr val="0F172A"/>
                </a:solidFill>
              </a:rPr>
              <a:t>, </a:t>
            </a:r>
            <a:r>
              <a:rPr sz="1500">
                <a:solidFill>
                  <a:srgbClr val="BE123C"/>
                </a:solidFill>
                <a:latin typeface="Consolas"/>
              </a:rPr>
              <a:t>plan-reviewer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706623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Drafts a 4-file spec + </a:t>
            </a:r>
            <a:r>
              <a:rPr sz="1500">
                <a:solidFill>
                  <a:srgbClr val="BE123C"/>
                </a:solidFill>
                <a:latin typeface="Consolas"/>
              </a:rPr>
              <a:t>reports/implementation-plan.md</a:t>
            </a:r>
            <a:r>
              <a:rPr b="0" sz="1500">
                <a:solidFill>
                  <a:srgbClr val="0F172A"/>
                </a:solidFill>
              </a:rPr>
              <a:t>, runs a 6-check inline pre-flight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017519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One</a:t>
            </a:r>
            <a:r>
              <a:rPr b="0" sz="1500">
                <a:solidFill>
                  <a:srgbClr val="0F172A"/>
                </a:solidFill>
              </a:rPr>
              <a:t> human approval (scope + stack + plan via AskUserQuestion), then runs </a:t>
            </a:r>
            <a:r>
              <a:rPr b="1" sz="1500">
                <a:solidFill>
                  <a:srgbClr val="0F172A"/>
                </a:solidFill>
              </a:rPr>
              <a:t>unattended to a green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3328415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Code generated fresh on </a:t>
            </a:r>
            <a:r>
              <a:rPr sz="1500">
                <a:solidFill>
                  <a:srgbClr val="BE123C"/>
                </a:solidFill>
                <a:latin typeface="Consolas"/>
              </a:rPr>
              <a:t>feature/&lt;slug&gt;-&lt;date&gt;</a:t>
            </a:r>
            <a:r>
              <a:rPr b="0" sz="1500">
                <a:solidFill>
                  <a:srgbClr val="0F172A"/>
                </a:solidFill>
              </a:rPr>
              <a:t> from recipes in </a:t>
            </a:r>
            <a:r>
              <a:rPr sz="1500">
                <a:solidFill>
                  <a:srgbClr val="BE123C"/>
                </a:solidFill>
                <a:latin typeface="Consolas"/>
              </a:rPr>
              <a:t>harness/patterns/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3639311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sz="1500">
                <a:solidFill>
                  <a:srgbClr val="BE123C"/>
                </a:solidFill>
                <a:latin typeface="Consolas"/>
              </a:rPr>
              <a:t>.claude/commands/</a:t>
            </a:r>
            <a:r>
              <a:rPr b="0" sz="1500">
                <a:solidFill>
                  <a:srgbClr val="0F172A"/>
                </a:solidFill>
              </a:rPr>
              <a:t>, </a:t>
            </a:r>
            <a:r>
              <a:rPr sz="1500">
                <a:solidFill>
                  <a:srgbClr val="BE123C"/>
                </a:solidFill>
                <a:latin typeface="Consolas"/>
              </a:rPr>
              <a:t>.claude/agents/</a:t>
            </a:r>
            <a:r>
              <a:rPr b="0" sz="1500">
                <a:solidFill>
                  <a:srgbClr val="0F172A"/>
                </a:solidFill>
              </a:rPr>
              <a:t>, </a:t>
            </a:r>
            <a:r>
              <a:rPr sz="1500">
                <a:solidFill>
                  <a:srgbClr val="BE123C"/>
                </a:solidFill>
                <a:latin typeface="Consolas"/>
              </a:rPr>
              <a:t>CLAUDE.md</a:t>
            </a:r>
            <a:r>
              <a:rPr b="0" sz="1500">
                <a:solidFill>
                  <a:srgbClr val="0F172A"/>
                </a:solidFill>
              </a:rPr>
              <a:t> generated from </a:t>
            </a:r>
            <a:r>
              <a:rPr sz="1500">
                <a:solidFill>
                  <a:srgbClr val="BE123C"/>
                </a:solidFill>
                <a:latin typeface="Consolas"/>
              </a:rPr>
              <a:t>harness/</a:t>
            </a:r>
            <a:r>
              <a:rPr b="0" sz="1500">
                <a:solidFill>
                  <a:srgbClr val="0F172A"/>
                </a:solidFill>
              </a:rPr>
              <a:t> by </a:t>
            </a:r>
            <a:r>
              <a:rPr sz="1500">
                <a:solidFill>
                  <a:srgbClr val="BE123C"/>
                </a:solidFill>
                <a:latin typeface="Consolas"/>
              </a:rPr>
              <a:t>harness/generate.py --check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59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Source: </a:t>
            </a:r>
            <a:r>
              <a:rPr sz="1500">
                <a:solidFill>
                  <a:srgbClr val="BE123C"/>
                </a:solidFill>
                <a:latin typeface="Consolas"/>
              </a:rPr>
              <a:t>git show befd889:harness/harness.md</a:t>
            </a:r>
            <a:r>
              <a:rPr b="0" sz="1500">
                <a:solidFill>
                  <a:srgbClr val="0F172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The two-zone honesty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The architecture rests on an explicit split — and deliberately does </a:t>
            </a:r>
            <a:r>
              <a:rPr b="1" sz="1500">
                <a:solidFill>
                  <a:srgbClr val="0F172A"/>
                </a:solidFill>
              </a:rPr>
              <a:t>not</a:t>
            </a:r>
            <a:r>
              <a:rPr b="0" sz="1500">
                <a:solidFill>
                  <a:srgbClr val="0F172A"/>
                </a:solidFill>
              </a:rPr>
              <a:t> claim "pure spec-as-source end to end" because the repo couldn't back that claim.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084831"/>
          <a:ext cx="10911535" cy="1033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4442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Zone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Source of truth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Contents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</a:tr>
              <a:tr h="34442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Tested CORE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(reused, version-pinned)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CODE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async FastAPI server, ReAct/LangGraph loop (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force_finalize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, max-iter sizing, AST action-safety),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ok()/api_error()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envelope, session-scoped resources,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/traces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dashboard, the gate harness, UI shell, SQLite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4442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Generated DOMAIN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SPEC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capability nodes, tools, prompts, EARS evals, domain UI screens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19" y="3255263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sz="1500">
                <a:solidFill>
                  <a:srgbClr val="BE123C"/>
                </a:solidFill>
                <a:latin typeface="Consolas"/>
              </a:rPr>
              <a:t>/build</a:t>
            </a:r>
            <a:r>
              <a:rPr b="0" sz="1500">
                <a:solidFill>
                  <a:srgbClr val="0F172A"/>
                </a:solidFill>
              </a:rPr>
              <a:t> </a:t>
            </a:r>
            <a:r>
              <a:rPr b="1" sz="1500">
                <a:solidFill>
                  <a:srgbClr val="0F172A"/>
                </a:solidFill>
              </a:rPr>
              <a:t>configures</a:t>
            </a:r>
            <a:r>
              <a:rPr b="0" sz="1500">
                <a:solidFill>
                  <a:srgbClr val="0F172A"/>
                </a:solidFill>
              </a:rPr>
              <a:t> the core, never regenerates it (like a framework dependency).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566159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Two-zone also governs </a:t>
            </a:r>
            <a:r>
              <a:rPr b="1" sz="1500">
                <a:solidFill>
                  <a:srgbClr val="0F172A"/>
                </a:solidFill>
              </a:rPr>
              <a:t>who you fix</a:t>
            </a:r>
            <a:r>
              <a:rPr b="0" sz="1500">
                <a:solidFill>
                  <a:srgbClr val="0F172A"/>
                </a:solidFill>
              </a:rPr>
              <a:t> on a red check: core rule → fix the recipe; domain rule → fix the spec.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24527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Source: </a:t>
            </a:r>
            <a:r>
              <a:rPr sz="1500">
                <a:solidFill>
                  <a:srgbClr val="BE123C"/>
                </a:solidFill>
                <a:latin typeface="Consolas"/>
              </a:rPr>
              <a:t>git show befd889:harness/harness.md</a:t>
            </a:r>
            <a:r>
              <a:rPr b="0" sz="1500">
                <a:solidFill>
                  <a:srgbClr val="0F172A"/>
                </a:solidFill>
              </a:rPr>
              <a:t>, </a:t>
            </a:r>
            <a:r>
              <a:rPr sz="1500">
                <a:solidFill>
                  <a:srgbClr val="BE123C"/>
                </a:solidFill>
                <a:latin typeface="Consolas"/>
              </a:rPr>
              <a:t>spec/constitution.md</a:t>
            </a:r>
            <a:r>
              <a:rPr b="0" sz="1500">
                <a:solidFill>
                  <a:srgbClr val="0F172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The spec format: EARS + </a:t>
            </a:r>
            <a:r>
              <a:rPr sz="2600">
                <a:solidFill>
                  <a:srgbClr val="BE123C"/>
                </a:solidFill>
                <a:latin typeface="Consolas"/>
              </a:rPr>
              <a:t>[@eval]</a:t>
            </a:r>
            <a:r>
              <a:rPr b="1" sz="2600">
                <a:solidFill>
                  <a:srgbClr val="0F172A"/>
                </a:solidFill>
              </a:rPr>
              <a:t> binding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A 4-file input contract plus an inherited, versioned constitution (</a:t>
            </a:r>
            <a:r>
              <a:rPr sz="1500">
                <a:solidFill>
                  <a:srgbClr val="BE123C"/>
                </a:solidFill>
                <a:latin typeface="Consolas"/>
              </a:rPr>
              <a:t>Version 1.0.0</a:t>
            </a:r>
            <a:r>
              <a:rPr b="0" sz="1500">
                <a:solidFill>
                  <a:srgbClr val="0F172A"/>
                </a:solidFill>
              </a:rPr>
              <a:t>, ~30 MUST/SHOULD rules, each bound to a mechanical owner).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84831"/>
            <a:ext cx="10911535" cy="132588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bIns="91440"/>
          <a:lstStyle/>
          <a:p>
            <a:pPr algn="ctr"/>
            <a:r>
              <a:rPr sz="1100">
                <a:solidFill>
                  <a:srgbClr val="E2E8F0"/>
                </a:solidFill>
                <a:latin typeface="Consolas"/>
              </a:rPr>
              <a:t>spec/product.md          # what it does, success criteria, out-of-scope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spec/capabilities/*.md   # one per capability — EARS criteria, P1/P2/P3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spec/agent.md            # on/off layer ledger; every ON layer traces to a capability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spec/tech-stack.md       # provider, runtime model, sqlite+aiosqlite, deploy target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spec/constitution.md     # inherited; rules A–F, each -&gt; a gate line / hook / lint /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Every acceptance line is EARS </a:t>
            </a:r>
            <a:r>
              <a:rPr b="1" sz="1500">
                <a:solidFill>
                  <a:srgbClr val="0F172A"/>
                </a:solidFill>
              </a:rPr>
              <a:t>and</a:t>
            </a:r>
            <a:r>
              <a:rPr b="0" sz="1500">
                <a:solidFill>
                  <a:srgbClr val="0F172A"/>
                </a:solidFill>
              </a:rPr>
              <a:t> carries an executable binding token: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95928"/>
            <a:ext cx="10911535" cy="694944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bIns="91440"/>
          <a:lstStyle/>
          <a:p>
            <a:pPr algn="ctr"/>
            <a:r>
              <a:rPr sz="1100">
                <a:solidFill>
                  <a:srgbClr val="E2E8F0"/>
                </a:solidFill>
                <a:latin typeface="Consolas"/>
              </a:rPr>
              <a:t>WHILE a file is loaded ... SHALL retain the uploaded file context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across turns ... [@eval: tests/test_file_retention.py::test_file_retention]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80060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Priorities: exactly </a:t>
            </a:r>
            <a:r>
              <a:rPr b="1" sz="1500">
                <a:solidFill>
                  <a:srgbClr val="0F172A"/>
                </a:solidFill>
              </a:rPr>
              <a:t>one P1</a:t>
            </a:r>
            <a:r>
              <a:rPr b="0" sz="1500">
                <a:solidFill>
                  <a:srgbClr val="0F172A"/>
                </a:solidFill>
              </a:rPr>
              <a:t> (the live capability); P2/P3 are deterministic journey-complete </a:t>
            </a:r>
            <a:r>
              <a:rPr b="1" sz="1500">
                <a:solidFill>
                  <a:srgbClr val="0F172A"/>
                </a:solidFill>
              </a:rPr>
              <a:t>stubs</a:t>
            </a:r>
            <a:r>
              <a:rPr b="0" sz="1500">
                <a:solidFill>
                  <a:srgbClr val="0F172A"/>
                </a:solidFill>
              </a:rPr>
              <a:t>, never silent gaps.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45896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Source: </a:t>
            </a:r>
            <a:r>
              <a:rPr sz="1500">
                <a:solidFill>
                  <a:srgbClr val="BE123C"/>
                </a:solidFill>
                <a:latin typeface="Consolas"/>
              </a:rPr>
              <a:t>git show d6def4a:spec/capabilities/file-analysis.md</a:t>
            </a:r>
            <a:r>
              <a:rPr b="0" sz="1500">
                <a:solidFill>
                  <a:srgbClr val="0F172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The mechanical gate: "done" = exit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BE123C"/>
                </a:solidFill>
                <a:latin typeface="Consolas"/>
              </a:rPr>
              <a:t>make gate</a:t>
            </a:r>
            <a:r>
              <a:rPr b="0" sz="1500">
                <a:solidFill>
                  <a:srgbClr val="0F172A"/>
                </a:solidFill>
              </a:rPr>
              <a:t> exits 0 is the </a:t>
            </a:r>
            <a:r>
              <a:rPr b="1" sz="1500">
                <a:solidFill>
                  <a:srgbClr val="0F172A"/>
                </a:solidFill>
              </a:rPr>
              <a:t>only</a:t>
            </a:r>
            <a:r>
              <a:rPr b="0" sz="1500">
                <a:solidFill>
                  <a:srgbClr val="0F172A"/>
                </a:solidFill>
              </a:rPr>
              <a:t> definition of done. Two tiers; PROD is a strict superset of DEMO. The DEMO gate is genuinely outcome-based — </a:t>
            </a:r>
            <a:r>
              <a:rPr b="1" sz="1500">
                <a:solidFill>
                  <a:srgbClr val="0F172A"/>
                </a:solidFill>
              </a:rPr>
              <a:t>a 200 with a wrong answer FAILS.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084831"/>
          <a:ext cx="10911535" cy="2679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34898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#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DEMO check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Verdict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</a:tr>
              <a:tr h="334898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1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[@eval]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lint — every EARS line resolves to an AST-collectable case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exit code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4898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2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uv run pytest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— FakeModel loop (≥2 iter, tool spans,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force_finalize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) + judge test + Playwright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exit code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4898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3–4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server boots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python -m agent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;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/health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=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{"ok":true}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exit code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4898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5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two-turn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run on one session — any Q2 error fails even if Q1 was perfect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exit code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4898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6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judge-stable outcome eval —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SAMPLES=5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, mean ≥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THRESHOLD - MARGIN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exit code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4898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7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Playwright UI — post-JS DOM contains a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real expected value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, not just non-empty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exit code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4905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8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/traces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renders ≥1 run with that run's spans (grep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RUN_ID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)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exit code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901183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Source: </a:t>
            </a:r>
            <a:r>
              <a:rPr sz="1500">
                <a:solidFill>
                  <a:srgbClr val="BE123C"/>
                </a:solidFill>
                <a:latin typeface="Consolas"/>
              </a:rPr>
              <a:t>git show befd889:harness/workflows/gates.md</a:t>
            </a:r>
            <a:r>
              <a:rPr b="0" sz="1500">
                <a:solidFill>
                  <a:srgbClr val="0F172A"/>
                </a:solidFill>
              </a:rPr>
              <a:t> (31.8KB).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What WORKED — the baseline bar we keep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The old harness drove </a:t>
            </a:r>
            <a:r>
              <a:rPr b="1" sz="1500">
                <a:solidFill>
                  <a:srgbClr val="0F172A"/>
                </a:solidFill>
              </a:rPr>
              <a:t>real apps to a green mechanical gate.</a:t>
            </a:r>
            <a:r>
              <a:rPr b="0" sz="1500">
                <a:solidFill>
                  <a:srgbClr val="0F172A"/>
                </a:solidFill>
              </a:rPr>
              <a:t> That is the bar.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847088"/>
            <a:ext cx="10820095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Data-analysis agent</a:t>
            </a:r>
            <a:r>
              <a:rPr b="0" sz="1500">
                <a:solidFill>
                  <a:srgbClr val="0F172A"/>
                </a:solidFill>
              </a:rPr>
              <a:t> — </a:t>
            </a:r>
            <a:r>
              <a:rPr sz="1500">
                <a:solidFill>
                  <a:srgbClr val="BE123C"/>
                </a:solidFill>
                <a:latin typeface="Consolas"/>
              </a:rPr>
              <a:t>d6def4a</a:t>
            </a:r>
            <a:r>
              <a:rPr b="0" sz="1500">
                <a:solidFill>
                  <a:srgbClr val="0F172A"/>
                </a:solidFill>
              </a:rPr>
              <a:t>, branch </a:t>
            </a:r>
            <a:r>
              <a:rPr sz="1500">
                <a:solidFill>
                  <a:srgbClr val="BE123C"/>
                </a:solidFill>
                <a:latin typeface="Consolas"/>
              </a:rPr>
              <a:t>feature/data-analysis-2026-06-20</a:t>
            </a:r>
            <a:r>
              <a:rPr b="0" sz="1500">
                <a:solidFill>
                  <a:srgbClr val="0F172A"/>
                </a:solidFill>
              </a:rPr>
              <a:t>: commit msg "gate exits 0 (all 8 checks pass)", </a:t>
            </a:r>
            <a:r>
              <a:rPr b="1" sz="1500">
                <a:solidFill>
                  <a:srgbClr val="0F172A"/>
                </a:solidFill>
              </a:rPr>
              <a:t>40 files / 4,045 insertions</a:t>
            </a:r>
            <a:r>
              <a:rPr b="0" sz="1500">
                <a:solidFill>
                  <a:srgbClr val="0F172A"/>
                </a:solidFill>
              </a:rPr>
              <a:t> (full </a:t>
            </a:r>
            <a:r>
              <a:rPr sz="1500">
                <a:solidFill>
                  <a:srgbClr val="BE123C"/>
                </a:solidFill>
                <a:latin typeface="Consolas"/>
              </a:rPr>
              <a:t>agent/</a:t>
            </a:r>
            <a:r>
              <a:rPr b="0" sz="1500">
                <a:solidFill>
                  <a:srgbClr val="0F172A"/>
                </a:solidFill>
              </a:rPr>
              <a:t> package, </a:t>
            </a:r>
            <a:r>
              <a:rPr sz="1500">
                <a:solidFill>
                  <a:srgbClr val="BE123C"/>
                </a:solidFill>
                <a:latin typeface="Consolas"/>
              </a:rPr>
              <a:t>sessions.py</a:t>
            </a:r>
            <a:r>
              <a:rPr b="0" sz="1500">
                <a:solidFill>
                  <a:srgbClr val="0F172A"/>
                </a:solidFill>
              </a:rPr>
              <a:t>, </a:t>
            </a:r>
            <a:r>
              <a:rPr sz="1500">
                <a:solidFill>
                  <a:srgbClr val="BE123C"/>
                </a:solidFill>
                <a:latin typeface="Consolas"/>
              </a:rPr>
              <a:t>guardrails.py</a:t>
            </a:r>
            <a:r>
              <a:rPr b="0" sz="1500">
                <a:solidFill>
                  <a:srgbClr val="0F172A"/>
                </a:solidFill>
              </a:rPr>
              <a:t>, tests, Playwright e2e, </a:t>
            </a:r>
            <a:r>
              <a:rPr sz="1500">
                <a:solidFill>
                  <a:srgbClr val="BE123C"/>
                </a:solidFill>
                <a:latin typeface="Consolas"/>
              </a:rPr>
              <a:t>uv.lock</a:t>
            </a:r>
            <a:r>
              <a:rPr b="0" sz="1500">
                <a:solidFill>
                  <a:srgbClr val="0F172A"/>
                </a:solidFill>
              </a:rPr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706624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Support-triage agent</a:t>
            </a:r>
            <a:r>
              <a:rPr b="0" sz="1500">
                <a:solidFill>
                  <a:srgbClr val="0F172A"/>
                </a:solidFill>
              </a:rPr>
              <a:t> — </a:t>
            </a:r>
            <a:r>
              <a:rPr sz="1500">
                <a:solidFill>
                  <a:srgbClr val="BE123C"/>
                </a:solidFill>
                <a:latin typeface="Consolas"/>
              </a:rPr>
              <a:t>c85e982</a:t>
            </a:r>
            <a:r>
              <a:rPr b="0" sz="1500">
                <a:solidFill>
                  <a:srgbClr val="0F172A"/>
                </a:solidFill>
              </a:rPr>
              <a:t>, branch </a:t>
            </a:r>
            <a:r>
              <a:rPr sz="1500">
                <a:solidFill>
                  <a:srgbClr val="BE123C"/>
                </a:solidFill>
                <a:latin typeface="Consolas"/>
              </a:rPr>
              <a:t>feature/support-triage-2026-06-20</a:t>
            </a:r>
            <a:r>
              <a:rPr b="0" sz="1500">
                <a:solidFill>
                  <a:srgbClr val="0F172A"/>
                </a:solidFill>
              </a:rPr>
              <a:t>: </a:t>
            </a:r>
            <a:r>
              <a:rPr b="1" sz="1500">
                <a:solidFill>
                  <a:srgbClr val="0F172A"/>
                </a:solidFill>
              </a:rPr>
              <a:t>47 files / 3,353 insertions</a:t>
            </a:r>
            <a:r>
              <a:rPr b="0" sz="1500">
                <a:solidFill>
                  <a:srgbClr val="0F172A"/>
                </a:solidFill>
              </a:rPr>
              <a:t> incl. a Next.js </a:t>
            </a:r>
            <a:r>
              <a:rPr sz="1500">
                <a:solidFill>
                  <a:srgbClr val="BE123C"/>
                </a:solidFill>
                <a:latin typeface="Consolas"/>
              </a:rPr>
              <a:t>ui/</a:t>
            </a:r>
            <a:r>
              <a:rPr b="0" sz="1500">
                <a:solidFill>
                  <a:srgbClr val="0F172A"/>
                </a:solidFill>
              </a:rPr>
              <a:t>; keyless gate verified (eval_lint exit 0, 14 passed + 1 key-gated skip).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29184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EARS → `[@eval]` binding works end to end</a:t>
            </a:r>
            <a:r>
              <a:rPr b="0" sz="1500">
                <a:solidFill>
                  <a:srgbClr val="0F172A"/>
                </a:solidFill>
              </a:rPr>
              <a:t> — </a:t>
            </a:r>
            <a:r>
              <a:rPr sz="1500">
                <a:solidFill>
                  <a:srgbClr val="BE123C"/>
                </a:solidFill>
                <a:latin typeface="Consolas"/>
              </a:rPr>
              <a:t>test_file_retention</a:t>
            </a:r>
            <a:r>
              <a:rPr b="0" sz="1500">
                <a:solidFill>
                  <a:srgbClr val="0F172A"/>
                </a:solidFill>
              </a:rPr>
              <a:t> exists at line 12; enforced by an AST lint that runs twice so it can't slip through either entry point.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877056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Each constitution MUST maps to a concrete owner → the constitution is </a:t>
            </a:r>
            <a:r>
              <a:rPr b="1" sz="1500">
                <a:solidFill>
                  <a:srgbClr val="0F172A"/>
                </a:solidFill>
              </a:rPr>
              <a:t>enforced, not preached.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61104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Source: </a:t>
            </a:r>
            <a:r>
              <a:rPr sz="1500">
                <a:solidFill>
                  <a:srgbClr val="BE123C"/>
                </a:solidFill>
                <a:latin typeface="Consolas"/>
              </a:rPr>
              <a:t>git show d6def4a --stat</a:t>
            </a:r>
            <a:r>
              <a:rPr b="0" sz="1500">
                <a:solidFill>
                  <a:srgbClr val="0F172A"/>
                </a:solidFill>
              </a:rPr>
              <a:t>; </a:t>
            </a:r>
            <a:r>
              <a:rPr sz="1500">
                <a:solidFill>
                  <a:srgbClr val="BE123C"/>
                </a:solidFill>
                <a:latin typeface="Consolas"/>
              </a:rPr>
              <a:t>git diff --stat befd889 c85e982</a:t>
            </a:r>
            <a:r>
              <a:rPr b="0" sz="1500">
                <a:solidFill>
                  <a:srgbClr val="0F172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What FAILED — candid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371600"/>
            <a:ext cx="10820095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Prose re-typed every build.</a:t>
            </a:r>
            <a:r>
              <a:rPr b="0" sz="1500">
                <a:solidFill>
                  <a:srgbClr val="0F172A"/>
                </a:solidFill>
              </a:rPr>
              <a:t> </a:t>
            </a:r>
            <a:r>
              <a:rPr sz="1500">
                <a:solidFill>
                  <a:srgbClr val="BE123C"/>
                </a:solidFill>
                <a:latin typeface="Consolas"/>
              </a:rPr>
              <a:t>gates.md</a:t>
            </a:r>
            <a:r>
              <a:rPr b="0" sz="1500">
                <a:solidFill>
                  <a:srgbClr val="0F172A"/>
                </a:solidFill>
              </a:rPr>
              <a:t> = 31.8KB, </a:t>
            </a:r>
            <a:r>
              <a:rPr sz="1500">
                <a:solidFill>
                  <a:srgbClr val="BE123C"/>
                </a:solidFill>
                <a:latin typeface="Consolas"/>
              </a:rPr>
              <a:t>build.md</a:t>
            </a:r>
            <a:r>
              <a:rPr b="0" sz="1500">
                <a:solidFill>
                  <a:srgbClr val="0F172A"/>
                </a:solidFill>
              </a:rPr>
              <a:t> = 25.7KB, </a:t>
            </a:r>
            <a:r>
              <a:rPr sz="1500">
                <a:solidFill>
                  <a:srgbClr val="BE123C"/>
                </a:solidFill>
                <a:latin typeface="Consolas"/>
              </a:rPr>
              <a:t>constitution.md</a:t>
            </a:r>
            <a:r>
              <a:rPr b="0" sz="1500">
                <a:solidFill>
                  <a:srgbClr val="0F172A"/>
                </a:solidFill>
              </a:rPr>
              <a:t> = 12.8KB. Recipe code (</a:t>
            </a:r>
            <a:r>
              <a:rPr sz="1500">
                <a:solidFill>
                  <a:srgbClr val="BE123C"/>
                </a:solidFill>
                <a:latin typeface="Consolas"/>
              </a:rPr>
              <a:t>config.py</a:t>
            </a:r>
            <a:r>
              <a:rPr b="0" sz="1500">
                <a:solidFill>
                  <a:srgbClr val="0F172A"/>
                </a:solidFill>
              </a:rPr>
              <a:t>, </a:t>
            </a:r>
            <a:r>
              <a:rPr sz="1500">
                <a:solidFill>
                  <a:srgbClr val="BE123C"/>
                </a:solidFill>
                <a:latin typeface="Consolas"/>
              </a:rPr>
              <a:t>runner.py</a:t>
            </a:r>
            <a:r>
              <a:rPr b="0" sz="1500">
                <a:solidFill>
                  <a:srgbClr val="0F172A"/>
                </a:solidFill>
              </a:rPr>
              <a:t>, </a:t>
            </a:r>
            <a:r>
              <a:rPr sz="1500">
                <a:solidFill>
                  <a:srgbClr val="BE123C"/>
                </a:solidFill>
                <a:latin typeface="Consolas"/>
              </a:rPr>
              <a:t>eval_lint.py</a:t>
            </a:r>
            <a:r>
              <a:rPr b="0" sz="1500">
                <a:solidFill>
                  <a:srgbClr val="0F172A"/>
                </a:solidFill>
              </a:rPr>
              <a:t>, </a:t>
            </a:r>
            <a:r>
              <a:rPr sz="1500">
                <a:solidFill>
                  <a:srgbClr val="BE123C"/>
                </a:solidFill>
                <a:latin typeface="Consolas"/>
              </a:rPr>
              <a:t>demo_gate.sh</a:t>
            </a:r>
            <a:r>
              <a:rPr b="0" sz="1500">
                <a:solidFill>
                  <a:srgbClr val="0F172A"/>
                </a:solidFill>
              </a:rPr>
              <a:t>) is duplicated across files — exactly what </a:t>
            </a:r>
            <a:r>
              <a:rPr sz="1500">
                <a:solidFill>
                  <a:srgbClr val="BE123C"/>
                </a:solidFill>
                <a:latin typeface="Consolas"/>
              </a:rPr>
              <a:t>build.md</a:t>
            </a:r>
            <a:r>
              <a:rPr b="0" sz="1500">
                <a:solidFill>
                  <a:srgbClr val="0F172A"/>
                </a:solidFill>
              </a:rPr>
              <a:t> itself warns "is how contracts silently drift."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231136"/>
            <a:ext cx="10820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Dangling cross-references.</a:t>
            </a:r>
            <a:r>
              <a:rPr b="0" sz="1500">
                <a:solidFill>
                  <a:srgbClr val="0F172A"/>
                </a:solidFill>
              </a:rPr>
              <a:t> </a:t>
            </a:r>
            <a:r>
              <a:rPr sz="1500">
                <a:solidFill>
                  <a:srgbClr val="BE123C"/>
                </a:solidFill>
                <a:latin typeface="Consolas"/>
              </a:rPr>
              <a:t>build.md</a:t>
            </a:r>
            <a:r>
              <a:rPr b="0" sz="1500">
                <a:solidFill>
                  <a:srgbClr val="0F172A"/>
                </a:solidFill>
              </a:rPr>
              <a:t>/</a:t>
            </a:r>
            <a:r>
              <a:rPr sz="1500">
                <a:solidFill>
                  <a:srgbClr val="BE123C"/>
                </a:solidFill>
                <a:latin typeface="Consolas"/>
              </a:rPr>
              <a:t>gates.md</a:t>
            </a:r>
            <a:r>
              <a:rPr b="0" sz="1500">
                <a:solidFill>
                  <a:srgbClr val="0F172A"/>
                </a:solidFill>
              </a:rPr>
              <a:t>/</a:t>
            </a:r>
            <a:r>
              <a:rPr sz="1500">
                <a:solidFill>
                  <a:srgbClr val="BE123C"/>
                </a:solidFill>
                <a:latin typeface="Consolas"/>
              </a:rPr>
              <a:t>constitution.md</a:t>
            </a:r>
            <a:r>
              <a:rPr b="0" sz="1500">
                <a:solidFill>
                  <a:srgbClr val="0F172A"/>
                </a:solidFill>
              </a:rPr>
              <a:t>/</a:t>
            </a:r>
            <a:r>
              <a:rPr sz="1500">
                <a:solidFill>
                  <a:srgbClr val="BE123C"/>
                </a:solidFill>
                <a:latin typeface="Consolas"/>
              </a:rPr>
              <a:t>drift-auditor.md</a:t>
            </a:r>
            <a:r>
              <a:rPr b="0" sz="1500">
                <a:solidFill>
                  <a:srgbClr val="0F172A"/>
                </a:solidFill>
              </a:rPr>
              <a:t> repeatedly cite </a:t>
            </a:r>
            <a:r>
              <a:rPr sz="1500">
                <a:solidFill>
                  <a:srgbClr val="BE123C"/>
                </a:solidFill>
                <a:latin typeface="Consolas"/>
              </a:rPr>
              <a:t>reports/archaeology/SPEC-RECONCILIATION.md</a:t>
            </a:r>
            <a:r>
              <a:rPr b="0" sz="1500">
                <a:solidFill>
                  <a:srgbClr val="0F172A"/>
                </a:solidFill>
              </a:rPr>
              <a:t>, </a:t>
            </a:r>
            <a:r>
              <a:rPr sz="1500">
                <a:solidFill>
                  <a:srgbClr val="BE123C"/>
                </a:solidFill>
                <a:latin typeface="Consolas"/>
              </a:rPr>
              <a:t>COMPETITIVE-RESEARCH.md</a:t>
            </a:r>
            <a:r>
              <a:rPr b="0" sz="1500">
                <a:solidFill>
                  <a:srgbClr val="0F172A"/>
                </a:solidFill>
              </a:rPr>
              <a:t>, </a:t>
            </a:r>
            <a:r>
              <a:rPr sz="1500">
                <a:solidFill>
                  <a:srgbClr val="BE123C"/>
                </a:solidFill>
                <a:latin typeface="Consolas"/>
              </a:rPr>
              <a:t>HARDENING-LOG</a:t>
            </a:r>
            <a:r>
              <a:rPr b="0" sz="1500">
                <a:solidFill>
                  <a:srgbClr val="0F172A"/>
                </a:solidFill>
              </a:rPr>
              <a:t>. </a:t>
            </a:r>
            <a:r>
              <a:rPr sz="1500">
                <a:solidFill>
                  <a:srgbClr val="BE123C"/>
                </a:solidFill>
                <a:latin typeface="Consolas"/>
              </a:rPr>
              <a:t>git ls-tree -r befd889</a:t>
            </a:r>
            <a:r>
              <a:rPr b="0" sz="1500">
                <a:solidFill>
                  <a:srgbClr val="0F172A"/>
                </a:solidFill>
              </a:rPr>
              <a:t> → </a:t>
            </a:r>
            <a:r>
              <a:rPr b="1" sz="1500">
                <a:solidFill>
                  <a:srgbClr val="0F172A"/>
                </a:solidFill>
              </a:rPr>
              <a:t>NONE tracked</a:t>
            </a:r>
            <a:r>
              <a:rPr b="0" sz="1500">
                <a:solidFill>
                  <a:srgbClr val="0F172A"/>
                </a:solidFill>
              </a:rPr>
              <a:t> (only </a:t>
            </a:r>
            <a:r>
              <a:rPr sz="1500">
                <a:solidFill>
                  <a:srgbClr val="BE123C"/>
                </a:solidFill>
                <a:latin typeface="Consolas"/>
              </a:rPr>
              <a:t>reports/sessions/.gitkeep</a:t>
            </a:r>
            <a:r>
              <a:rPr b="0" sz="1500">
                <a:solidFill>
                  <a:srgbClr val="0F172A"/>
                </a:solidFill>
              </a:rPr>
              <a:t>). Every "(§ F)", "(iter 7)" points at a file that doesn't exist.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364991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Owner couldn't explain his own repo.</a:t>
            </a:r>
            <a:r>
              <a:rPr b="0" sz="1500">
                <a:solidFill>
                  <a:srgbClr val="0F172A"/>
                </a:solidFill>
              </a:rPr>
              <a:t> The v3 "tested core" was really ~3k lines of </a:t>
            </a:r>
            <a:r>
              <a:rPr b="1" sz="1500">
                <a:solidFill>
                  <a:srgbClr val="0F172A"/>
                </a:solidFill>
              </a:rPr>
              <a:t>prose recipes an AI re-typed into code each build</a:t>
            </a:r>
            <a:r>
              <a:rPr b="0" sz="1500">
                <a:solidFill>
                  <a:srgbClr val="0F172A"/>
                </a:solidFill>
              </a:rPr>
              <a:t> — no </a:t>
            </a:r>
            <a:r>
              <a:rPr sz="1500">
                <a:solidFill>
                  <a:srgbClr val="BE123C"/>
                </a:solidFill>
                <a:latin typeface="Consolas"/>
              </a:rPr>
              <a:t>agent/</a:t>
            </a:r>
            <a:r>
              <a:rPr b="0" sz="1500">
                <a:solidFill>
                  <a:srgbClr val="0F172A"/>
                </a:solidFill>
              </a:rPr>
              <a:t> package, zero runnable tests in-repo.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950207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A long tail of false-green traps</a:t>
            </a:r>
            <a:r>
              <a:rPr b="0" sz="1500">
                <a:solidFill>
                  <a:srgbClr val="0F172A"/>
                </a:solidFill>
              </a:rPr>
              <a:t> patched reactively: </a:t>
            </a:r>
            <a:r>
              <a:rPr sz="1500">
                <a:solidFill>
                  <a:srgbClr val="BE123C"/>
                </a:solidFill>
                <a:latin typeface="Consolas"/>
              </a:rPr>
              <a:t>asyncio_mode='auto'</a:t>
            </a:r>
            <a:r>
              <a:rPr b="0" sz="1500">
                <a:solidFill>
                  <a:srgbClr val="0F172A"/>
                </a:solidFill>
              </a:rPr>
              <a:t> skipping async tests; substring </a:t>
            </a:r>
            <a:r>
              <a:rPr sz="1500">
                <a:solidFill>
                  <a:srgbClr val="BE123C"/>
                </a:solidFill>
                <a:latin typeface="Consolas"/>
              </a:rPr>
              <a:t>[@eval]</a:t>
            </a:r>
            <a:r>
              <a:rPr b="0" sz="1500">
                <a:solidFill>
                  <a:srgbClr val="0F172A"/>
                </a:solidFill>
              </a:rPr>
              <a:t> false-greening TODOs; non-empty UI assert passing a "no data loaded"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08575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Source: </a:t>
            </a:r>
            <a:r>
              <a:rPr sz="1500">
                <a:solidFill>
                  <a:srgbClr val="BE123C"/>
                </a:solidFill>
                <a:latin typeface="Consolas"/>
              </a:rPr>
              <a:t>wc -c</a:t>
            </a:r>
            <a:r>
              <a:rPr b="0" sz="1500">
                <a:solidFill>
                  <a:srgbClr val="0F172A"/>
                </a:solidFill>
              </a:rPr>
              <a:t> per file; </a:t>
            </a:r>
            <a:r>
              <a:rPr sz="1500">
                <a:solidFill>
                  <a:srgbClr val="BE123C"/>
                </a:solidFill>
                <a:latin typeface="Consolas"/>
              </a:rPr>
              <a:t>git ls-tree -r --name-only befd889</a:t>
            </a:r>
            <a:r>
              <a:rPr b="0" sz="1500">
                <a:solidFill>
                  <a:srgbClr val="0F172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This session's RESET: lean, agent-agnostic v4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We </a:t>
            </a:r>
            <a:r>
              <a:rPr b="1" sz="1500">
                <a:solidFill>
                  <a:srgbClr val="0F172A"/>
                </a:solidFill>
              </a:rPr>
              <a:t>rejected</a:t>
            </a:r>
            <a:r>
              <a:rPr b="0" sz="1500">
                <a:solidFill>
                  <a:srgbClr val="0F172A"/>
                </a:solidFill>
              </a:rPr>
              <a:t> the v3 delivery model (prose-recipes-as-core) and locked a new direction: a lean, human-manageable, coding-agent-</a:t>
            </a:r>
            <a:r>
              <a:rPr b="1" sz="1500">
                <a:solidFill>
                  <a:srgbClr val="0F172A"/>
                </a:solidFill>
              </a:rPr>
              <a:t>agnostic</a:t>
            </a:r>
            <a:r>
              <a:rPr b="0" sz="1500">
                <a:solidFill>
                  <a:srgbClr val="0F172A"/>
                </a:solidFill>
              </a:rPr>
              <a:t> harness.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84831"/>
            <a:ext cx="10911535" cy="1115568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bIns="91440"/>
          <a:lstStyle/>
          <a:p>
            <a:pPr algn="ctr"/>
            <a:r>
              <a:rPr sz="1100">
                <a:solidFill>
                  <a:srgbClr val="E2E8F0"/>
                </a:solidFill>
                <a:latin typeface="Consolas"/>
              </a:rPr>
              <a:t>harness/   # agent-agnostic details &amp; logic (the brains, portable)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spec/      # generated from the user's prompt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code/      # generated from the user's prompt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.claude/   # ONLY thin INDEXES pointing into harness/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310127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Primary constraint: `spec/` and `code/` must ALWAYS reconcile</a:t>
            </a:r>
            <a:r>
              <a:rPr b="0" sz="1500">
                <a:solidFill>
                  <a:srgbClr val="0F172A"/>
                </a:solidFill>
              </a:rPr>
              <a:t> — both co-generated from one prompt, kept symmetric.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95344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v3's reconciliation was </a:t>
            </a:r>
            <a:r>
              <a:rPr b="1" sz="1500">
                <a:solidFill>
                  <a:srgbClr val="0F172A"/>
                </a:solidFill>
              </a:rPr>
              <a:t>one-way</a:t>
            </a:r>
            <a:r>
              <a:rPr b="0" sz="1500">
                <a:solidFill>
                  <a:srgbClr val="0F172A"/>
                </a:solidFill>
              </a:rPr>
              <a:t> (</a:t>
            </a:r>
            <a:r>
              <a:rPr sz="1500">
                <a:solidFill>
                  <a:srgbClr val="BE123C"/>
                </a:solidFill>
                <a:latin typeface="Consolas"/>
              </a:rPr>
              <a:t>drift-auditor</a:t>
            </a:r>
            <a:r>
              <a:rPr b="0" sz="1500">
                <a:solidFill>
                  <a:srgbClr val="0F172A"/>
                </a:solidFill>
              </a:rPr>
              <a:t>, intent-authoritative, RECORD vs FLAG). We keep the discipline but make the constraint </a:t>
            </a:r>
            <a:r>
              <a:rPr b="1" sz="1500">
                <a:solidFill>
                  <a:srgbClr val="0F172A"/>
                </a:solidFill>
              </a:rPr>
              <a:t>symmetric</a:t>
            </a:r>
            <a:r>
              <a:rPr b="0" sz="1500">
                <a:solidFill>
                  <a:srgbClr val="0F172A"/>
                </a:solidFill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480559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Tight iterative + human-in-loop; Claude-Code-native now, portable later.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Corrections we made mid-session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We got the v4 shape wrong twice before locking it — worth recording so we don't regress.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47088"/>
          <a:ext cx="10911535" cy="1362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8"/>
              </a:tblGrid>
              <a:tr h="34061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First (wrong)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Corrected to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</a:tr>
              <a:tr h="34061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Deleted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harness/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, inlined details into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.claude/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harness/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holds agent-agnostic details;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.claude/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is a thin index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4061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Framed it one-way: "code is truth, spec is a projection"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Constraint is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symmetric reconciliation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— neither side silently wins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40614"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Built a throwaway example app to demo it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No throwaway app; the harness is the deliverable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19" y="3346704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Hard-coupling to </a:t>
            </a:r>
            <a:r>
              <a:rPr sz="1500">
                <a:solidFill>
                  <a:srgbClr val="BE123C"/>
                </a:solidFill>
                <a:latin typeface="Consolas"/>
              </a:rPr>
              <a:t>.claude/</a:t>
            </a:r>
            <a:r>
              <a:rPr b="0" sz="1500">
                <a:solidFill>
                  <a:srgbClr val="0F172A"/>
                </a:solidFill>
              </a:rPr>
              <a:t> would have re-created the lock-in we were escaping.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Ideas we SALVAGED +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Keep (proven value):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847088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Proof-it-ran gate</a:t>
            </a:r>
            <a:r>
              <a:rPr b="0" sz="1500">
                <a:solidFill>
                  <a:srgbClr val="0F172A"/>
                </a:solidFill>
              </a:rPr>
              <a:t> — done = app booted over HTTP and gave the </a:t>
            </a:r>
            <a:r>
              <a:rPr b="1" sz="1500">
                <a:solidFill>
                  <a:srgbClr val="0F172A"/>
                </a:solidFill>
              </a:rPr>
              <a:t>right</a:t>
            </a:r>
            <a:r>
              <a:rPr b="0" sz="1500">
                <a:solidFill>
                  <a:srgbClr val="0F172A"/>
                </a:solidFill>
              </a:rPr>
              <a:t> answer; 200-with-wrong-answer fails.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432304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`[@eval]` test-binding</a:t>
            </a:r>
            <a:r>
              <a:rPr b="0" sz="1500">
                <a:solidFill>
                  <a:srgbClr val="0F172A"/>
                </a:solidFill>
              </a:rPr>
              <a:t> — every EARS criterion bound to a real AST-resolved test; unbound → build fails.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Judge-stability</a:t>
            </a:r>
            <a:r>
              <a:rPr b="0" sz="1500">
                <a:solidFill>
                  <a:srgbClr val="0F172A"/>
                </a:solidFill>
              </a:rPr>
              <a:t> — multi-sampled LLM judge with margin so exit-0 is deterministic.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328416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Thin-slice v1</a:t>
            </a:r>
            <a:r>
              <a:rPr b="0" sz="1500">
                <a:solidFill>
                  <a:srgbClr val="0F172A"/>
                </a:solidFill>
              </a:rPr>
              <a:t> — one real capability + honest deterministic stubs.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3639312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0" sz="1500">
                <a:solidFill>
                  <a:srgbClr val="0F172A"/>
                </a:solidFill>
              </a:rPr>
              <a:t>EARS acceptance criteria · 6. non-coder </a:t>
            </a:r>
            <a:r>
              <a:rPr sz="1500">
                <a:solidFill>
                  <a:srgbClr val="BE123C"/>
                </a:solidFill>
                <a:latin typeface="Consolas"/>
              </a:rPr>
              <a:t>/traces</a:t>
            </a:r>
            <a:r>
              <a:rPr b="0" sz="1500">
                <a:solidFill>
                  <a:srgbClr val="0F172A"/>
                </a:solidFill>
              </a:rPr>
              <a:t> dashboard.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10911535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Open bricks (after this deck):</a:t>
            </a:r>
            <a:r>
              <a:rPr b="0" sz="1500">
                <a:solidFill>
                  <a:srgbClr val="0F172A"/>
                </a:solidFill>
              </a:rPr>
              <a:t> repo skeleton/contract · spec format · reconciliation mechanism · the harness workflow · the </a:t>
            </a:r>
            <a:r>
              <a:rPr sz="1500">
                <a:solidFill>
                  <a:srgbClr val="BE123C"/>
                </a:solidFill>
                <a:latin typeface="Consolas"/>
              </a:rPr>
              <a:t>.claude</a:t>
            </a:r>
            <a:r>
              <a:rPr b="0" sz="1500">
                <a:solidFill>
                  <a:srgbClr val="0F172A"/>
                </a:solidFill>
              </a:rPr>
              <a:t> index layer · validation by </a:t>
            </a:r>
            <a:r>
              <a:rPr b="1" sz="1500">
                <a:solidFill>
                  <a:srgbClr val="0F172A"/>
                </a:solidFill>
              </a:rPr>
              <a:t>simulating</a:t>
            </a:r>
            <a:r>
              <a:rPr b="0" sz="1500">
                <a:solidFill>
                  <a:srgbClr val="0F172A"/>
                </a:solidFill>
              </a:rPr>
              <a:t> workflows + review.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4000">
                <a:solidFill>
                  <a:srgbClr val="FFFFFF"/>
                </a:solidFill>
              </a:rPr>
              <a:t>Closing — Where We Stand in the Field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The comparison matrix — every cell grounded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67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11535" cy="2350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335715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Dimension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Us (v4 target)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OpenSpec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Spec Kit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Kiro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</a:tr>
              <a:tr h="335715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Folder layout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3 siblings: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harness/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+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spec/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+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code/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;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.claude/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= thin index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two-zone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openspec/specs/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vs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openspec/changes/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(~48 folders)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.specify/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+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specs/&lt;feat&gt;/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.kiro/specs/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+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.kiro/steering/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5715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Spec format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EARS lines +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[@eval]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+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targets: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glob, 1 file/capability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Markdown deltas (ADDED/MODIFIED/REMOVED)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spec.md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/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plan.md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/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tasks.md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requirements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/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design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/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tasks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.md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5715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Reconciliation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symmetric;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intent wins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, working-but-wrong code FLAGged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delta proposal → apply → archive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/analyze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read-only audit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approval gates per phase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5715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Verification / proof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boot + 2-turn HTTP + judge-stable outcome eval; 200-with-wrong-answer FAILS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LLM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/verify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(reads artifacts)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severity-tiered static audit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checkbox tasks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5715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Agent-agnosticism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logic in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harness/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;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.claude/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regenerable adapter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CLI, agent-neutral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multi-agent, neutral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Kiro IDE + AGENTS.md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5718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Leanness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~289 lines core; "hold in your head" bar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ceremony-heavy (changes/+archive/)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3 artifacts/feature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steering + 3 artifacts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The comparison matrix — every cell grounded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68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11535" cy="2350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35715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Dimension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Tessl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Academic-ideal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</a:tr>
              <a:tr h="335715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Folder layout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spec files + frontmatter, versioned in git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clean separation of intent vs artifact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5715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Spec format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Markdown + YAML frontmatter, inline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[@test]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EARS (Mavin, IEEE RE'09) — 1 line ↔ 1 test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5715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Reconciliation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drift-fix biased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spec→code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spec+code update in same commit (sync-owner-gate)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5715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Verification / proof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shell scripts resolve globs + run tests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specs execute as CI gates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5715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Agent-agnosticism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appends to AGENTS.md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format-neutral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5718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Leanness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low-ceremony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minimal-but-complete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858768"/>
            <a:ext cx="10911535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Source: OpenSpec dossier (Fission-AI, 55.7k★, MIT); Spec Kit </a:t>
            </a:r>
            <a:r>
              <a:rPr sz="1500">
                <a:solidFill>
                  <a:srgbClr val="BE123C"/>
                </a:solidFill>
                <a:latin typeface="Consolas"/>
              </a:rPr>
              <a:t>/speckit.analyze</a:t>
            </a:r>
            <a:r>
              <a:rPr b="0" sz="1500">
                <a:solidFill>
                  <a:srgbClr val="0F172A"/>
                </a:solidFill>
              </a:rPr>
              <a:t> 6-pass audit; Kiro </a:t>
            </a:r>
            <a:r>
              <a:rPr sz="1500">
                <a:solidFill>
                  <a:srgbClr val="BE123C"/>
                </a:solidFill>
                <a:latin typeface="Consolas"/>
              </a:rPr>
              <a:t>.kiro/steering/</a:t>
            </a:r>
            <a:r>
              <a:rPr b="0" sz="1500">
                <a:solidFill>
                  <a:srgbClr val="0F172A"/>
                </a:solidFill>
              </a:rPr>
              <a:t>; Tessl spec-verification tile; EARS = Mavin/Rolls-Royce IEEE RE'09.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Where we ALIGN with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137160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EARS acceptance criteria</a:t>
            </a:r>
            <a:r>
              <a:rPr b="0" sz="1500">
                <a:solidFill>
                  <a:srgbClr val="0F172A"/>
                </a:solidFill>
              </a:rPr>
              <a:t> — the academic consensus for testable, drift-detectable requirements. We keep it verbatim; one EARS line maps ~1:1 to one 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2996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Source: Mavin et al., IEEE RE'09; Kiro also documents WHEN/SHALL.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05456"/>
            <a:ext cx="10820095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Spec↔code↔test binding is machine-checkable</a:t>
            </a:r>
            <a:r>
              <a:rPr b="0" sz="1500">
                <a:solidFill>
                  <a:srgbClr val="0F172A"/>
                </a:solidFill>
              </a:rPr>
              <a:t> — </a:t>
            </a:r>
            <a:r>
              <a:rPr sz="1500">
                <a:solidFill>
                  <a:srgbClr val="BE123C"/>
                </a:solidFill>
                <a:latin typeface="Consolas"/>
              </a:rPr>
              <a:t>[@eval: path::case]</a:t>
            </a:r>
            <a:r>
              <a:rPr b="0" sz="1500">
                <a:solidFill>
                  <a:srgbClr val="0F172A"/>
                </a:solidFill>
              </a:rPr>
              <a:t> resolves via </a:t>
            </a:r>
            <a:r>
              <a:rPr b="1" sz="1500">
                <a:solidFill>
                  <a:srgbClr val="0F172A"/>
                </a:solidFill>
              </a:rPr>
              <a:t>AST collection, not substring</a:t>
            </a:r>
            <a:r>
              <a:rPr b="0" sz="1500">
                <a:solidFill>
                  <a:srgbClr val="0F172A"/>
                </a:solidFill>
              </a:rPr>
              <a:t>. Same spirit as Tessl's inline </a:t>
            </a:r>
            <a:r>
              <a:rPr sz="1500">
                <a:solidFill>
                  <a:srgbClr val="BE123C"/>
                </a:solidFill>
                <a:latin typeface="Consolas"/>
              </a:rPr>
              <a:t>[@test]</a:t>
            </a:r>
            <a:r>
              <a:rPr b="0" sz="1500">
                <a:solidFill>
                  <a:srgbClr val="0F172A"/>
                </a:solidFill>
              </a:rPr>
              <a:t> and committed </a:t>
            </a:r>
            <a:r>
              <a:rPr sz="1500">
                <a:solidFill>
                  <a:srgbClr val="BE123C"/>
                </a:solidFill>
                <a:latin typeface="Consolas"/>
              </a:rPr>
              <a:t>validate-specs.sh</a:t>
            </a:r>
            <a:r>
              <a:rPr b="0" sz="1500">
                <a:solidFill>
                  <a:srgbClr val="0F172A"/>
                </a:solidFill>
              </a:rPr>
              <a:t>. Unbound criterion ⇒ build fails.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364992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Reconciliation as the central job</a:t>
            </a:r>
            <a:r>
              <a:rPr b="0" sz="1500">
                <a:solidFill>
                  <a:srgbClr val="0F172A"/>
                </a:solidFill>
              </a:rPr>
              <a:t> — matches the academic sync-owner-gate (spec + code must move together) and OpenSpec's "what we have vs what we want" framing.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50208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Constitution-style non-negotiables, each with a mechanical owner</a:t>
            </a:r>
            <a:r>
              <a:rPr b="0" sz="1500">
                <a:solidFill>
                  <a:srgbClr val="0F172A"/>
                </a:solidFill>
              </a:rPr>
              <a:t> — Spec Kit (</a:t>
            </a:r>
            <a:r>
              <a:rPr sz="1500">
                <a:solidFill>
                  <a:srgbClr val="BE123C"/>
                </a:solidFill>
                <a:latin typeface="Consolas"/>
              </a:rPr>
              <a:t>constitution.md</a:t>
            </a:r>
            <a:r>
              <a:rPr b="0" sz="1500">
                <a:solidFill>
                  <a:srgbClr val="0F172A"/>
                </a:solidFill>
              </a:rPr>
              <a:t>), Kiro (</a:t>
            </a:r>
            <a:r>
              <a:rPr sz="1500">
                <a:solidFill>
                  <a:srgbClr val="BE123C"/>
                </a:solidFill>
                <a:latin typeface="Consolas"/>
              </a:rPr>
              <a:t>steering/</a:t>
            </a:r>
            <a:r>
              <a:rPr b="0" sz="1500">
                <a:solidFill>
                  <a:srgbClr val="0F172A"/>
                </a:solidFill>
              </a:rPr>
              <a:t>), and our baseline all converge here. Every MUST → a gate line / hook / lint.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4535424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Execution-grounded validation</a:t>
            </a:r>
            <a:r>
              <a:rPr b="0" sz="1500">
                <a:solidFill>
                  <a:srgbClr val="0F172A"/>
                </a:solidFill>
              </a:rPr>
              <a:t> — the field is moving toward "specs execute as CI validation gates" (arXiv: Spec-Driven Development: From Code to Contract); our proof gate is exactly that.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Where we DEVIATE —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70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11535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3680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We deviate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The field's norm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Why we deviate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Proof = run it and judge the answer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OpenSpec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/verify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, Spec Kit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/analyze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, Kiro read code/artifacts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Reading code can't catch a confident wrong answer. A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200 with a wrong answer FAILS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— the property no competitor ships. Proven across DataChat, data-analysis (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d6def4a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, 40 files, gate exits 0), support-triage.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Intent wins on conflict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Tessl biases drift-fix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spec→code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Letting reality silently overwrite intent certifies wrong behavior green — the exact failure we exist to prevent. Working-but-wrong code is FLAGged for a human, never auto-blessed.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No separate `changes/` zone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OpenSpec's two-zone tree (its single best idea)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Full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changes/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+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archive/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+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initiatives/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is the ceremony creep that made v3 unexplainable.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Git branch = proposed, main = truth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— for free. (We may keep one throwaway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changes/&lt;slug&gt;.md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delta.)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1 Markdown file per capability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Kiro/Spec Kit 3-artifact split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3 artifacts/capability is the artifact sprawl both dossiers flag as rot. Keep it to one screen.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3680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Claude-Code-only now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AGENTS.md (60k repos, 20+ agents)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Deliberately rejected re-adding AGENTS.md (PR #23); it can't express Claude Code's command/subagent/skill/hook primitives the loop relies on. Logic stays in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harness/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so an adapter is a generation target later, not a rewrite.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529584"/>
            <a:ext cx="10911535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The hard constraint behind every deviation: </a:t>
            </a:r>
            <a:r>
              <a:rPr b="1" sz="1500">
                <a:solidFill>
                  <a:srgbClr val="0F172A"/>
                </a:solidFill>
              </a:rPr>
              <a:t>human-manageability</a:t>
            </a:r>
            <a:r>
              <a:rPr b="0" sz="1500">
                <a:solidFill>
                  <a:srgbClr val="0F172A"/>
                </a:solidFill>
              </a:rPr>
              <a:t>. The owner could not explain v3 (7.8k lines); v4 is "lean, hold-in-your-head."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The open bricks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Six bricks remain after this deck (none built yet — current HEAD </a:t>
            </a:r>
            <a:r>
              <a:rPr sz="1500">
                <a:solidFill>
                  <a:srgbClr val="BE123C"/>
                </a:solidFill>
                <a:latin typeface="Consolas"/>
              </a:rPr>
              <a:t>fda90ac</a:t>
            </a:r>
            <a:r>
              <a:rPr b="0" sz="1500">
                <a:solidFill>
                  <a:srgbClr val="0F172A"/>
                </a:solidFill>
              </a:rPr>
              <a:t> is the 289-line lean core; </a:t>
            </a:r>
            <a:r>
              <a:rPr sz="1500">
                <a:solidFill>
                  <a:srgbClr val="BE123C"/>
                </a:solidFill>
                <a:latin typeface="Consolas"/>
              </a:rPr>
              <a:t>harness/</a:t>
            </a:r>
            <a:r>
              <a:rPr b="0" sz="1500">
                <a:solidFill>
                  <a:srgbClr val="0F172A"/>
                </a:solidFill>
              </a:rPr>
              <a:t> and top-level </a:t>
            </a:r>
            <a:r>
              <a:rPr sz="1500">
                <a:solidFill>
                  <a:srgbClr val="BE123C"/>
                </a:solidFill>
                <a:latin typeface="Consolas"/>
              </a:rPr>
              <a:t>spec/</a:t>
            </a:r>
            <a:r>
              <a:rPr b="0" sz="1500">
                <a:solidFill>
                  <a:srgbClr val="0F172A"/>
                </a:solidFill>
              </a:rPr>
              <a:t> are still the v4 target):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084831"/>
            <a:ext cx="10820095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Repo skeleton &amp; contract</a:t>
            </a:r>
            <a:r>
              <a:rPr b="0" sz="1500">
                <a:solidFill>
                  <a:srgbClr val="0F172A"/>
                </a:solidFill>
              </a:rPr>
              <a:t> — </a:t>
            </a:r>
            <a:r>
              <a:rPr sz="1500">
                <a:solidFill>
                  <a:srgbClr val="BE123C"/>
                </a:solidFill>
                <a:latin typeface="Consolas"/>
              </a:rPr>
              <a:t>harness/</a:t>
            </a:r>
            <a:r>
              <a:rPr b="0" sz="1500">
                <a:solidFill>
                  <a:srgbClr val="0F172A"/>
                </a:solidFill>
              </a:rPr>
              <a:t> (rules + recipes + gate scripts) · </a:t>
            </a:r>
            <a:r>
              <a:rPr sz="1500">
                <a:solidFill>
                  <a:srgbClr val="BE123C"/>
                </a:solidFill>
                <a:latin typeface="Consolas"/>
              </a:rPr>
              <a:t>spec/</a:t>
            </a:r>
            <a:r>
              <a:rPr b="0" sz="1500">
                <a:solidFill>
                  <a:srgbClr val="0F172A"/>
                </a:solidFill>
              </a:rPr>
              <a:t> (1 .md/capability) · </a:t>
            </a:r>
            <a:r>
              <a:rPr sz="1500">
                <a:solidFill>
                  <a:srgbClr val="BE123C"/>
                </a:solidFill>
                <a:latin typeface="Consolas"/>
              </a:rPr>
              <a:t>code/</a:t>
            </a:r>
            <a:r>
              <a:rPr b="0" sz="1500">
                <a:solidFill>
                  <a:srgbClr val="0F172A"/>
                </a:solidFill>
              </a:rPr>
              <a:t> · thin </a:t>
            </a:r>
            <a:r>
              <a:rPr sz="1500">
                <a:solidFill>
                  <a:srgbClr val="BE123C"/>
                </a:solidFill>
                <a:latin typeface="Consolas"/>
              </a:rPr>
              <a:t>.claude/</a:t>
            </a:r>
            <a:r>
              <a:rPr b="0" sz="1500">
                <a:solidFill>
                  <a:srgbClr val="0F172A"/>
                </a:solidFill>
              </a:rPr>
              <a:t>. Open: keep a </a:t>
            </a:r>
            <a:r>
              <a:rPr sz="1500">
                <a:solidFill>
                  <a:srgbClr val="BE123C"/>
                </a:solidFill>
                <a:latin typeface="Consolas"/>
              </a:rPr>
              <a:t>changes/&lt;slug&gt;.md</a:t>
            </a:r>
            <a:r>
              <a:rPr b="0" sz="1500">
                <a:solidFill>
                  <a:srgbClr val="0F172A"/>
                </a:solidFill>
              </a:rPr>
              <a:t> delta, or is the git branch the only change record?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944368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Spec format</a:t>
            </a:r>
            <a:r>
              <a:rPr b="0" sz="1500">
                <a:solidFill>
                  <a:srgbClr val="0F172A"/>
                </a:solidFill>
              </a:rPr>
              <a:t> — EARS + </a:t>
            </a:r>
            <a:r>
              <a:rPr sz="1500">
                <a:solidFill>
                  <a:srgbClr val="BE123C"/>
                </a:solidFill>
                <a:latin typeface="Consolas"/>
              </a:rPr>
              <a:t>[@eval]</a:t>
            </a:r>
            <a:r>
              <a:rPr b="0" sz="1500">
                <a:solidFill>
                  <a:srgbClr val="0F172A"/>
                </a:solidFill>
              </a:rPr>
              <a:t> + </a:t>
            </a:r>
            <a:r>
              <a:rPr sz="1500">
                <a:solidFill>
                  <a:srgbClr val="BE123C"/>
                </a:solidFill>
                <a:latin typeface="Consolas"/>
              </a:rPr>
              <a:t>targets:</a:t>
            </a:r>
            <a:r>
              <a:rPr b="0" sz="1500">
                <a:solidFill>
                  <a:srgbClr val="0F172A"/>
                </a:solidFill>
              </a:rPr>
              <a:t> glob, kept lean. Open: one binding syntax, not two.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255263"/>
            <a:ext cx="10820095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Reconciliation mechanism</a:t>
            </a:r>
            <a:r>
              <a:rPr b="0" sz="1500">
                <a:solidFill>
                  <a:srgbClr val="0F172A"/>
                </a:solidFill>
              </a:rPr>
              <a:t> — layered: </a:t>
            </a:r>
            <a:r>
              <a:rPr b="1" sz="1500">
                <a:solidFill>
                  <a:srgbClr val="0F172A"/>
                </a:solidFill>
              </a:rPr>
              <a:t>mechanical commit gate</a:t>
            </a:r>
            <a:r>
              <a:rPr b="0" sz="1500">
                <a:solidFill>
                  <a:srgbClr val="0F172A"/>
                </a:solidFill>
              </a:rPr>
              <a:t> (fail-closed) → </a:t>
            </a:r>
            <a:r>
              <a:rPr b="1" sz="1500">
                <a:solidFill>
                  <a:srgbClr val="0F172A"/>
                </a:solidFill>
              </a:rPr>
              <a:t>drift-auditor</a:t>
            </a:r>
            <a:r>
              <a:rPr b="0" sz="1500">
                <a:solidFill>
                  <a:srgbClr val="0F172A"/>
                </a:solidFill>
              </a:rPr>
              <a:t> (semantic) → </a:t>
            </a:r>
            <a:r>
              <a:rPr b="1" sz="1500">
                <a:solidFill>
                  <a:srgbClr val="0F172A"/>
                </a:solidFill>
              </a:rPr>
              <a:t>intent-wins</a:t>
            </a:r>
            <a:r>
              <a:rPr b="0" sz="1500">
                <a:solidFill>
                  <a:srgbClr val="0F172A"/>
                </a:solidFill>
              </a:rPr>
              <a:t> authority. Open: commit-time vs </a:t>
            </a:r>
            <a:r>
              <a:rPr sz="1500">
                <a:solidFill>
                  <a:srgbClr val="BE123C"/>
                </a:solidFill>
                <a:latin typeface="Consolas"/>
              </a:rPr>
              <a:t>/change</a:t>
            </a:r>
            <a:r>
              <a:rPr b="0" sz="1500">
                <a:solidFill>
                  <a:srgbClr val="0F172A"/>
                </a:solidFill>
              </a:rPr>
              <a:t>-time enforcement; the WIP escape hatch; the "reality-wins, I confirm" path.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11480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The harness workflow</a:t>
            </a:r>
            <a:r>
              <a:rPr b="0" sz="1500">
                <a:solidFill>
                  <a:srgbClr val="0F172A"/>
                </a:solidFill>
              </a:rPr>
              <a:t> — correct the committed </a:t>
            </a:r>
            <a:r>
              <a:rPr b="1" sz="1500">
                <a:solidFill>
                  <a:srgbClr val="0F172A"/>
                </a:solidFill>
              </a:rPr>
              <a:t>one-way</a:t>
            </a:r>
            <a:r>
              <a:rPr b="0" sz="1500">
                <a:solidFill>
                  <a:srgbClr val="0F172A"/>
                </a:solidFill>
              </a:rPr>
              <a:t> loop ("code is truth") to </a:t>
            </a:r>
            <a:r>
              <a:rPr b="1" sz="1500">
                <a:solidFill>
                  <a:srgbClr val="0F172A"/>
                </a:solidFill>
              </a:rPr>
              <a:t>symmetric co-generation</a:t>
            </a:r>
            <a:r>
              <a:rPr b="0" sz="1500">
                <a:solidFill>
                  <a:srgbClr val="0F172A"/>
                </a:solidFill>
              </a:rPr>
              <a:t>; wire reconciliation in as step ~3.5. Keep only 2 subagents (</a:t>
            </a:r>
            <a:r>
              <a:rPr sz="1500">
                <a:solidFill>
                  <a:srgbClr val="BE123C"/>
                </a:solidFill>
                <a:latin typeface="Consolas"/>
              </a:rPr>
              <a:t>spec-projector</a:t>
            </a:r>
            <a:r>
              <a:rPr b="0" sz="1500">
                <a:solidFill>
                  <a:srgbClr val="0F172A"/>
                </a:solidFill>
              </a:rPr>
              <a:t>, </a:t>
            </a:r>
            <a:r>
              <a:rPr sz="1500">
                <a:solidFill>
                  <a:srgbClr val="BE123C"/>
                </a:solidFill>
                <a:latin typeface="Consolas"/>
              </a:rPr>
              <a:t>reviewer</a:t>
            </a:r>
            <a:r>
              <a:rPr b="0" sz="1500">
                <a:solidFill>
                  <a:srgbClr val="0F172A"/>
                </a:solidFill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4700016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The `.claude` index layer</a:t>
            </a:r>
            <a:r>
              <a:rPr b="0" sz="1500">
                <a:solidFill>
                  <a:srgbClr val="0F172A"/>
                </a:solidFill>
              </a:rPr>
              <a:t> — thin stubs that load </a:t>
            </a:r>
            <a:r>
              <a:rPr sz="1500">
                <a:solidFill>
                  <a:srgbClr val="BE123C"/>
                </a:solidFill>
                <a:latin typeface="Consolas"/>
              </a:rPr>
              <a:t>harness/</a:t>
            </a:r>
            <a:r>
              <a:rPr b="0" sz="1500">
                <a:solidFill>
                  <a:srgbClr val="0F172A"/>
                </a:solidFill>
              </a:rPr>
              <a:t> docs on demand, with a </a:t>
            </a:r>
            <a:r>
              <a:rPr sz="1500">
                <a:solidFill>
                  <a:srgbClr val="BE123C"/>
                </a:solidFill>
                <a:latin typeface="Consolas"/>
              </a:rPr>
              <a:t>generate --check</a:t>
            </a:r>
            <a:r>
              <a:rPr b="0" sz="1500">
                <a:solidFill>
                  <a:srgbClr val="0F172A"/>
                </a:solidFill>
              </a:rPr>
              <a:t> anti-drift owner.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5285231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Validation by simulation + review</a:t>
            </a:r>
            <a:r>
              <a:rPr b="0" sz="1500">
                <a:solidFill>
                  <a:srgbClr val="0F172A"/>
                </a:solidFill>
              </a:rPr>
              <a:t> — see next-but-one slide.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69279"/>
            <a:ext cx="10911535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Note: NORTH-STAR.md still reads "Code is truth; this document is its projection" — brick 4 must flip this to symmetric.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What good looks like — the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A v4 that is </a:t>
            </a:r>
            <a:r>
              <a:rPr b="1" sz="1500">
                <a:solidFill>
                  <a:srgbClr val="0F172A"/>
                </a:solidFill>
              </a:rPr>
              <a:t>lean, honest, and reconciled</a:t>
            </a:r>
            <a:r>
              <a:rPr b="0" sz="1500">
                <a:solidFill>
                  <a:srgbClr val="0F172A"/>
                </a:solidFill>
              </a:rPr>
              <a:t>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47088"/>
            <a:ext cx="10911535" cy="1536192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bIns="91440"/>
          <a:lstStyle/>
          <a:p>
            <a:pPr algn="ctr"/>
            <a:r>
              <a:rPr sz="1100">
                <a:solidFill>
                  <a:srgbClr val="E2E8F0"/>
                </a:solidFill>
                <a:latin typeface="Consolas"/>
              </a:rPr>
              <a:t>repo/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├── harness/        # agent-agnostic: harness.md (rules+workflow index),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│                   #   recipes/, gate scripts. The ONE place to read.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├── spec/           # one EARS+[@eval]+targets: .md per capability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├── code/           # the generated app — the executable truth</a:t>
            </a:r>
          </a:p>
          <a:p>
            <a:r>
              <a:rPr sz="1100">
                <a:solidFill>
                  <a:srgbClr val="E2E8F0"/>
                </a:solidFill>
                <a:latin typeface="Consolas"/>
              </a:rPr>
              <a:t>└── .claude/        # THIN index: commands/agents/skills load harness/ on 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493008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Spec format</a:t>
            </a:r>
            <a:r>
              <a:rPr b="0" sz="1500">
                <a:solidFill>
                  <a:srgbClr val="0F172A"/>
                </a:solidFill>
              </a:rPr>
              <a:t>: EARS body (the salvaged crown jewel) + one </a:t>
            </a:r>
            <a:r>
              <a:rPr sz="1500">
                <a:solidFill>
                  <a:srgbClr val="BE123C"/>
                </a:solidFill>
                <a:latin typeface="Consolas"/>
              </a:rPr>
              <a:t>targets:</a:t>
            </a:r>
            <a:r>
              <a:rPr b="0" sz="1500">
                <a:solidFill>
                  <a:srgbClr val="0F172A"/>
                </a:solidFill>
              </a:rPr>
              <a:t> glob so the gate knows which code a spec governs.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078224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Reconciliation</a:t>
            </a:r>
            <a:r>
              <a:rPr b="0" sz="1500">
                <a:solidFill>
                  <a:srgbClr val="0F172A"/>
                </a:solidFill>
              </a:rPr>
              <a:t>: deterministic commit gate is the floor (the gap every competitor lacks); LLM drift-auditor only on top; </a:t>
            </a:r>
            <a:r>
              <a:rPr b="1" sz="1500">
                <a:solidFill>
                  <a:srgbClr val="0F172A"/>
                </a:solidFill>
              </a:rPr>
              <a:t>intent wins</a:t>
            </a:r>
            <a:r>
              <a:rPr b="0" sz="1500">
                <a:solidFill>
                  <a:srgbClr val="0F172A"/>
                </a:solidFill>
              </a:rPr>
              <a:t>, never auto-bless.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66344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Proof</a:t>
            </a:r>
            <a:r>
              <a:rPr b="0" sz="1500">
                <a:solidFill>
                  <a:srgbClr val="0F172A"/>
                </a:solidFill>
              </a:rPr>
              <a:t>: keep the baseline DEMO gate verbatim — boot + two-turn HTTP + judge-stable eval. It's the proven performance bar.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5248655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Leanness as a feature</a:t>
            </a:r>
            <a:r>
              <a:rPr b="0" sz="1500">
                <a:solidFill>
                  <a:srgbClr val="0F172A"/>
                </a:solidFill>
              </a:rPr>
              <a:t>: a 4-step loop with 2 subagents stays explainable. Resist OpenSpec's schema engine and BMAD's 5-agent fan-out until a second workflow profile actually exists.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What good looks like — the synthesis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77437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64748B"/>
                </a:solidFill>
              </a:rPr>
              <a:t>The discriminating test: can one person read the whole harness in 30 minutes and explain its core mechanism? v3 failed this. v4 must pass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45720" cy="65836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152144"/>
            <a:ext cx="1371600" cy="5486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0F172A"/>
                </a:solidFill>
              </a:rPr>
              <a:t>How we'll validate v4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Spec-Driven Development &amp; Agentic Harnesses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51052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Three layers, each doing only what it's good at: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47088"/>
          <a:ext cx="10911535" cy="1362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9"/>
              </a:tblGrid>
              <a:tr h="34061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Layer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Mechanism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3730A3"/>
                          </a:solidFill>
                        </a:rPr>
                        <a:t>Role</a:t>
                      </a:r>
                    </a:p>
                  </a:txBody>
                  <a:tcPr marL="64008" marR="45720" marT="18288" marB="18288">
                    <a:solidFill>
                      <a:srgbClr val="EEF2FF"/>
                    </a:solidFill>
                  </a:tcPr>
                </a:tc>
              </a:tr>
              <a:tr h="34061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Per-app floor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Proof-it-ran gate (boot + 2-turn HTTP + multi-sample judge-stable eval)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Non-negotiable. Wrong answer on a 200 = FAIL. Kept verbatim from baseline.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  <a:tr h="34061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Cheap pre-flight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Read-only coverage audit: every EARS line bound, every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targets: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glob covered, no orphans; severity tiers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Deterministic, fast, runs before the expensive boot. Doubles as brick 3's mechanical gate.</a:t>
                      </a:r>
                    </a:p>
                  </a:txBody>
                  <a:tcPr marL="64008" marR="45720" marT="18288" marB="18288">
                    <a:solidFill>
                      <a:srgbClr val="F6F8FB"/>
                    </a:solidFill>
                  </a:tcPr>
                </a:tc>
              </a:tr>
              <a:tr h="340614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Harness self-test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0F172A"/>
                          </a:solidFill>
                        </a:rPr>
                        <a:t>Simulate the workflows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: drive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/new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and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/change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against 2–3 sample ideas in CI; assert each ends in a </a:t>
                      </a:r>
                      <a:r>
                        <a:rPr b="1" sz="1000">
                          <a:solidFill>
                            <a:srgbClr val="0F172A"/>
                          </a:solidFill>
                        </a:rPr>
                        <a:t>reconciled spec+code that passes the proof gate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. Plus an adversarial </a:t>
                      </a:r>
                      <a:r>
                        <a:rPr sz="1000">
                          <a:solidFill>
                            <a:srgbClr val="BE123C"/>
                          </a:solidFill>
                          <a:latin typeface="Consolas"/>
                        </a:rPr>
                        <a:t>reviewer</a:t>
                      </a:r>
                      <a:r>
                        <a:rPr b="0" sz="1000">
                          <a:solidFill>
                            <a:srgbClr val="0F172A"/>
                          </a:solidFill>
                        </a:rPr>
                        <a:t> subagent that fixes nothing.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00">
                          <a:solidFill>
                            <a:srgbClr val="0F172A"/>
                          </a:solidFill>
                        </a:rPr>
                        <a:t>Validates the harness itself, not just an app.</a:t>
                      </a:r>
                    </a:p>
                  </a:txBody>
                  <a:tcPr marL="64008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19" y="3346704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Keep the baseline that provably worked</a:t>
            </a:r>
            <a:r>
              <a:rPr b="0" sz="1500">
                <a:solidFill>
                  <a:srgbClr val="0F172A"/>
                </a:solidFill>
              </a:rPr>
              <a:t> — encode its hard-won false-green fixes (asyncio_mode, AST-not-substring resolution, empty-data) as </a:t>
            </a:r>
            <a:r>
              <a:rPr b="1" sz="1500">
                <a:solidFill>
                  <a:srgbClr val="0F172A"/>
                </a:solidFill>
              </a:rPr>
              <a:t>harness regression assertions</a:t>
            </a:r>
            <a:r>
              <a:rPr b="0" sz="1500">
                <a:solidFill>
                  <a:srgbClr val="0F172A"/>
                </a:solidFill>
              </a:rPr>
              <a:t> so they can't silently return.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931920"/>
            <a:ext cx="10820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4F46E5"/>
                </a:solidFill>
              </a:rPr>
              <a:t>• </a:t>
            </a:r>
            <a:r>
              <a:rPr b="1" sz="1500">
                <a:solidFill>
                  <a:srgbClr val="0F172A"/>
                </a:solidFill>
              </a:rPr>
              <a:t>Bound the cost</a:t>
            </a:r>
            <a:r>
              <a:rPr b="0" sz="1500">
                <a:solidFill>
                  <a:srgbClr val="0F172A"/>
                </a:solidFill>
              </a:rPr>
              <a:t> — sample ideas run keyless with </a:t>
            </a:r>
            <a:r>
              <a:rPr sz="1500">
                <a:solidFill>
                  <a:srgbClr val="BE123C"/>
                </a:solidFill>
                <a:latin typeface="Consolas"/>
              </a:rPr>
              <a:t>FakeModel</a:t>
            </a:r>
            <a:r>
              <a:rPr b="0" sz="1500">
                <a:solidFill>
                  <a:srgbClr val="0F172A"/>
                </a:solidFill>
              </a:rPr>
              <a:t> for mechanics; one keyed run for the real outcome eval.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90288"/>
            <a:ext cx="10911535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500">
                <a:solidFill>
                  <a:srgbClr val="0F172A"/>
                </a:solidFill>
              </a:rPr>
              <a:t>Source: baseline proof gate (data-analysis </a:t>
            </a:r>
            <a:r>
              <a:rPr sz="1500">
                <a:solidFill>
                  <a:srgbClr val="BE123C"/>
                </a:solidFill>
                <a:latin typeface="Consolas"/>
              </a:rPr>
              <a:t>d6def4a</a:t>
            </a:r>
            <a:r>
              <a:rPr b="0" sz="1500">
                <a:solidFill>
                  <a:srgbClr val="0F172A"/>
                </a:solidFill>
              </a:rPr>
              <a:t>, support-triage keyless gate); Anthropic eval-driven development; Spec Kit </a:t>
            </a:r>
            <a:r>
              <a:rPr sz="1500">
                <a:solidFill>
                  <a:srgbClr val="BE123C"/>
                </a:solidFill>
                <a:latin typeface="Consolas"/>
              </a:rPr>
              <a:t>/analyze</a:t>
            </a:r>
            <a:r>
              <a:rPr b="0" sz="1500">
                <a:solidFill>
                  <a:srgbClr val="0F172A"/>
                </a:solidFill>
              </a:rPr>
              <a:t>; Tessl </a:t>
            </a:r>
            <a:r>
              <a:rPr sz="1500">
                <a:solidFill>
                  <a:srgbClr val="BE123C"/>
                </a:solidFill>
                <a:latin typeface="Consolas"/>
              </a:rPr>
              <a:t>evals/</a:t>
            </a:r>
            <a:r>
              <a:rPr b="0" sz="1500">
                <a:solidFill>
                  <a:srgbClr val="0F172A"/>
                </a:solidFill>
              </a:rPr>
              <a:t> (9 scenarios).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4000">
                <a:solidFill>
                  <a:srgbClr val="FFFFFF"/>
                </a:solidFill>
              </a:rPr>
              <a:t>Sources &amp; further reading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